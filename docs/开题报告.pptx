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300" b="1" i="0">
                <a:solidFill>
                  <a:srgbClr val="FFFFFF"/>
                </a:solidFill>
                <a:latin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中国科学技术大学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32104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750" b="0" i="0">
                <a:solidFill>
                  <a:srgbClr val="8FAFC4"/>
                </a:solidFill>
                <a:latin typeface="Aptos"/>
              </a:defRPr>
            </a:pPr>
            <a:r>
              <a:rPr sz="750" b="0" i="0">
                <a:solidFill>
                  <a:srgbClr val="8FAFC4"/>
                </a:solidFill>
                <a:latin typeface="Aptos"/>
              </a:rPr>
              <a:t>UNIVERSITY OF SCIENCE AND TECHNOLOGY OF CHINA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53312"/>
            <a:ext cx="1691640" cy="329184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8FE0D7"/>
                </a:solidFill>
                <a:latin typeface="Microsoft YaHei"/>
              </a:defRPr>
            </a:pPr>
            <a:r>
              <a:rPr sz="1000" b="1" i="0">
                <a:solidFill>
                  <a:srgbClr val="8FE0D7"/>
                </a:solidFill>
                <a:latin typeface="Microsoft YaHei"/>
              </a:rPr>
              <a:t>工程硕士 · 开题汇报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658368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  <a:defRPr sz="3100" b="1" i="0">
                <a:solidFill>
                  <a:srgbClr val="FFFFFF"/>
                </a:solidFill>
                <a:latin typeface="Microsoft YaHei"/>
              </a:defRPr>
            </a:pPr>
            <a:r>
              <a:rPr sz="3100" b="1" i="0">
                <a:solidFill>
                  <a:srgbClr val="FFFFFF"/>
                </a:solidFill>
                <a:latin typeface="Microsoft YaHei"/>
              </a:rPr>
              <a:t>基于 RAG 的轻量级</a:t>
            </a:r>
          </a:p>
          <a:p>
            <a:pPr algn="l">
              <a:lnSpc>
                <a:spcPct val="104000"/>
              </a:lnSpc>
              <a:spcAft>
                <a:spcPts val="0"/>
              </a:spcAft>
              <a:defRPr sz="3100" b="1" i="0">
                <a:solidFill>
                  <a:srgbClr val="FFFFFF"/>
                </a:solidFill>
                <a:latin typeface="Microsoft YaHei"/>
              </a:defRPr>
            </a:pPr>
            <a:r>
              <a:rPr sz="3100" b="1" i="0">
                <a:solidFill>
                  <a:srgbClr val="FFFFFF"/>
                </a:solidFill>
                <a:latin typeface="Microsoft YaHei"/>
              </a:rPr>
              <a:t>企业工艺生成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493008"/>
            <a:ext cx="658368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30752"/>
            <a:ext cx="61722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050" b="0" i="0">
                <a:solidFill>
                  <a:srgbClr val="AFC4D2"/>
                </a:solidFill>
                <a:latin typeface="Aptos"/>
              </a:defRPr>
            </a:pPr>
            <a:r>
              <a:rPr sz="1050" b="0" i="0">
                <a:solidFill>
                  <a:srgbClr val="AFC4D2"/>
                </a:solidFill>
                <a:latin typeface="Aptos"/>
              </a:rPr>
              <a:t>Lightweight Enterprise Process Planning Generation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050" b="0" i="0">
                <a:solidFill>
                  <a:srgbClr val="AFC4D2"/>
                </a:solidFill>
                <a:latin typeface="Aptos"/>
              </a:defRPr>
            </a:pPr>
            <a:r>
              <a:rPr sz="1050" b="0" i="0">
                <a:solidFill>
                  <a:srgbClr val="AFC4D2"/>
                </a:solidFill>
                <a:latin typeface="Aptos"/>
              </a:rPr>
              <a:t>Based on Retrieval-Augmented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9028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D5E2EA"/>
                </a:solidFill>
                <a:latin typeface="Microsoft YaHei"/>
              </a:defRPr>
            </a:pPr>
            <a:r>
              <a:rPr sz="1150" b="0" i="0">
                <a:solidFill>
                  <a:srgbClr val="D5E2EA"/>
                </a:solidFill>
                <a:latin typeface="Microsoft YaHei"/>
              </a:rPr>
              <a:t>调研分析  ·  需求定义  ·  UML 概要设计  ·  评估方案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5760720"/>
            <a:ext cx="5879592" cy="0"/>
          </a:xfrm>
          <a:prstGeom prst="line">
            <a:avLst/>
          </a:prstGeom>
          <a:ln w="12700">
            <a:solidFill>
              <a:srgbClr val="365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59618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50" b="0" i="0">
                <a:solidFill>
                  <a:srgbClr val="AFC4D2"/>
                </a:solidFill>
                <a:latin typeface="Microsoft YaHei"/>
              </a:defRPr>
            </a:pPr>
            <a:r>
              <a:rPr sz="1050" b="0" i="0">
                <a:solidFill>
                  <a:srgbClr val="AFC4D2"/>
                </a:solidFill>
                <a:latin typeface="Microsoft YaHei"/>
              </a:rPr>
              <a:t>汇报人：待填写    指导教师：待填写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0807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000" b="0" i="0">
                <a:solidFill>
                  <a:srgbClr val="8FAFC4"/>
                </a:solidFill>
                <a:latin typeface="Aptos"/>
              </a:defRPr>
            </a:pPr>
            <a:r>
              <a:rPr sz="1000" b="0" i="0">
                <a:solidFill>
                  <a:srgbClr val="8FAFC4"/>
                </a:solidFill>
                <a:latin typeface="Aptos"/>
              </a:rPr>
              <a:t>2026.10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1124712"/>
            <a:ext cx="3566160" cy="3566160"/>
          </a:xfrm>
          <a:prstGeom prst="ellipse">
            <a:avLst/>
          </a:prstGeom>
          <a:solidFill>
            <a:srgbClr val="102A43"/>
          </a:solidFill>
          <a:ln w="13970">
            <a:solidFill>
              <a:srgbClr val="2A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19872" y="1609344"/>
            <a:ext cx="2596896" cy="2596896"/>
          </a:xfrm>
          <a:prstGeom prst="ellipse">
            <a:avLst/>
          </a:prstGeom>
          <a:solidFill>
            <a:srgbClr val="102A43"/>
          </a:solidFill>
          <a:ln w="13970">
            <a:solidFill>
              <a:srgbClr val="2A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84464" y="2212848"/>
            <a:ext cx="1115568" cy="576072"/>
          </a:xfrm>
          <a:prstGeom prst="line">
            <a:avLst/>
          </a:prstGeom>
          <a:ln w="17780">
            <a:solidFill>
              <a:srgbClr val="4B7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985248" y="2121408"/>
            <a:ext cx="502920" cy="658368"/>
          </a:xfrm>
          <a:prstGeom prst="line">
            <a:avLst/>
          </a:prstGeom>
          <a:ln w="17780">
            <a:solidFill>
              <a:srgbClr val="4B7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418320" y="3584448"/>
            <a:ext cx="0" cy="457200"/>
          </a:xfrm>
          <a:prstGeom prst="line">
            <a:avLst/>
          </a:prstGeom>
          <a:ln w="17780">
            <a:solidFill>
              <a:srgbClr val="4B7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741664" y="2212848"/>
            <a:ext cx="1353312" cy="1353312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4" y="2212848"/>
            <a:ext cx="1353312" cy="1353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sz="2500" b="1" i="0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1618488"/>
            <a:ext cx="1078992" cy="493776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 w="10160">
            <a:solidFill>
              <a:srgbClr val="3B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1618488"/>
            <a:ext cx="1078992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检索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87584" y="1536192"/>
            <a:ext cx="1078992" cy="493776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 w="10160">
            <a:solidFill>
              <a:srgbClr val="3B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87584" y="1536192"/>
            <a:ext cx="1078992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3977639"/>
            <a:ext cx="1078992" cy="493776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 w="10160">
            <a:solidFill>
              <a:srgbClr val="3B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3977639"/>
            <a:ext cx="1078992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98348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77C8C0"/>
                </a:solidFill>
                <a:latin typeface="Aptos"/>
              </a:defRPr>
            </a:pPr>
            <a:r>
              <a:rPr sz="850" b="0" i="0">
                <a:solidFill>
                  <a:srgbClr val="77C8C0"/>
                </a:solidFill>
                <a:latin typeface="Aptos"/>
              </a:rPr>
              <a:t>RETRIEVE  ·  GROUND  ·  GENERATE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01  /  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工艺知识“可查”，更要“可核查”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1692343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02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81328"/>
            <a:ext cx="349300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481328"/>
            <a:ext cx="3493008" cy="64008"/>
          </a:xfrm>
          <a:prstGeom prst="rect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773936"/>
            <a:ext cx="438912" cy="438912"/>
          </a:xfrm>
          <a:prstGeom prst="ellipse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739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2166A5"/>
                </a:solidFill>
                <a:latin typeface="Aptos"/>
              </a:defRPr>
            </a:pPr>
            <a:r>
              <a:rPr sz="1000" b="1" i="0">
                <a:solidFill>
                  <a:srgbClr val="2166A5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77393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700" b="1" i="0">
                <a:solidFill>
                  <a:srgbClr val="102A43"/>
                </a:solidFill>
                <a:latin typeface="Microsoft YaHei"/>
              </a:defRPr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资料分散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0487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工艺规程、作业指导书与设备资料多以 PDF 保存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人工跨文档查找效率低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481328"/>
            <a:ext cx="349300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481328"/>
            <a:ext cx="3493008" cy="64008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1773936"/>
            <a:ext cx="438912" cy="438912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7739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0E9F9A"/>
                </a:solidFill>
                <a:latin typeface="Aptos"/>
              </a:defRPr>
            </a:pPr>
            <a:r>
              <a:rPr sz="1000" b="1" i="0">
                <a:solidFill>
                  <a:srgbClr val="0E9F9A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177393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700" b="1" i="0">
                <a:solidFill>
                  <a:srgbClr val="102A43"/>
                </a:solidFill>
                <a:latin typeface="Microsoft YaHei"/>
              </a:defRPr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知识难复用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40487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加工方法、设备、参数、测量及质量要求相互关联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经验依赖个人理解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481328"/>
            <a:ext cx="349300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81328"/>
            <a:ext cx="3493008" cy="64008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1773936"/>
            <a:ext cx="438912" cy="438912"/>
          </a:xfrm>
          <a:prstGeom prst="ellipse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7739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E9A23B"/>
                </a:solidFill>
                <a:latin typeface="Aptos"/>
              </a:defRPr>
            </a:pPr>
            <a:r>
              <a:rPr sz="1000" b="1" i="0">
                <a:solidFill>
                  <a:srgbClr val="E9A23B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177393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700" b="1" i="0">
                <a:solidFill>
                  <a:srgbClr val="102A43"/>
                </a:solidFill>
                <a:latin typeface="Microsoft YaHei"/>
              </a:defRPr>
            </a:pPr>
            <a:r>
              <a:rPr sz="1700" b="1" i="0">
                <a:solidFill>
                  <a:srgbClr val="102A43"/>
                </a:solidFill>
                <a:latin typeface="Microsoft YaHei"/>
              </a:rPr>
              <a:t>答案难追溯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0487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通用大模型不掌握企业内部知识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可能生成无依据参数或来源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49039"/>
            <a:ext cx="11000232" cy="111556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6" y="3977639"/>
            <a:ext cx="960120" cy="310896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977639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91DDD5"/>
                </a:solidFill>
                <a:latin typeface="Microsoft YaHei"/>
              </a:defRPr>
            </a:pPr>
            <a:r>
              <a:rPr sz="1000" b="1" i="0">
                <a:solidFill>
                  <a:srgbClr val="91DDD5"/>
                </a:solidFill>
                <a:latin typeface="Microsoft YaHei"/>
              </a:rPr>
              <a:t>工程目标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3922776"/>
            <a:ext cx="912571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900" b="1" i="0">
                <a:solidFill>
                  <a:srgbClr val="FFFFFF"/>
                </a:solidFill>
                <a:latin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</a:rPr>
              <a:t>让企业文档成为可检索、可引用、可持续维护的工艺知识服务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093208"/>
            <a:ext cx="11000232" cy="621792"/>
          </a:xfrm>
          <a:prstGeom prst="roundRect">
            <a:avLst>
              <a:gd name="adj" fmla="val 12000"/>
            </a:avLst>
          </a:prstGeom>
          <a:solidFill>
            <a:srgbClr val="FFF5E5"/>
          </a:solidFill>
          <a:ln w="10160">
            <a:solidFill>
              <a:srgbClr val="F3D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2669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50" b="1" i="0">
                <a:solidFill>
                  <a:srgbClr val="A46A16"/>
                </a:solidFill>
                <a:latin typeface="Microsoft YaHei"/>
              </a:defRPr>
            </a:pPr>
            <a:r>
              <a:rPr sz="1050" b="1" i="0">
                <a:solidFill>
                  <a:srgbClr val="A46A16"/>
                </a:solidFill>
                <a:latin typeface="Microsoft YaHei"/>
              </a:rPr>
              <a:t>应用边界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" y="5230368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0" i="0">
                <a:solidFill>
                  <a:srgbClr val="765321"/>
                </a:solidFill>
                <a:latin typeface="Microsoft YaHei"/>
              </a:defRPr>
            </a:pPr>
            <a:r>
              <a:rPr sz="1200" b="0" i="0">
                <a:solidFill>
                  <a:srgbClr val="765321"/>
                </a:solidFill>
                <a:latin typeface="Microsoft YaHei"/>
              </a:rPr>
              <a:t>输出为 AI 辅助草案，须经工艺人员审核，不直接控制机床。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02  /  国内外相关技术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完整 RAG 链路，优于单点模型接入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2538515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03  /  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1773936"/>
            <a:ext cx="9784080" cy="0"/>
          </a:xfrm>
          <a:prstGeom prst="line">
            <a:avLst/>
          </a:prstGeom>
          <a:ln w="19050">
            <a:solidFill>
              <a:srgbClr val="B9C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28216" y="1636776"/>
            <a:ext cx="274320" cy="274320"/>
          </a:xfrm>
          <a:prstGeom prst="ellipse">
            <a:avLst/>
          </a:prstGeom>
          <a:solidFill>
            <a:srgbClr val="2166A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084831"/>
            <a:ext cx="254203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26771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00" b="1" i="0">
                <a:solidFill>
                  <a:srgbClr val="2166A5"/>
                </a:solidFill>
                <a:latin typeface="Aptos"/>
              </a:defRPr>
            </a:pPr>
            <a:r>
              <a:rPr sz="1100" b="1" i="0">
                <a:solidFill>
                  <a:srgbClr val="2166A5"/>
                </a:solidFill>
                <a:latin typeface="Aptos"/>
              </a:rPr>
              <a:t>2009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578608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BM25 / 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999232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词法相关性基线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排名融合避免异构分数比较</a:t>
            </a:r>
          </a:p>
        </p:txBody>
      </p:sp>
      <p:sp>
        <p:nvSpPr>
          <p:cNvPr id="18" name="Oval 17"/>
          <p:cNvSpPr/>
          <p:nvPr/>
        </p:nvSpPr>
        <p:spPr>
          <a:xfrm>
            <a:off x="4517136" y="1636776"/>
            <a:ext cx="274320" cy="274320"/>
          </a:xfrm>
          <a:prstGeom prst="ellipse">
            <a:avLst/>
          </a:prstGeom>
          <a:solidFill>
            <a:srgbClr val="0E9F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79" y="2084831"/>
            <a:ext cx="254203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226771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00" b="1" i="0">
                <a:solidFill>
                  <a:srgbClr val="0E9F9A"/>
                </a:solidFill>
                <a:latin typeface="Aptos"/>
              </a:defRPr>
            </a:pPr>
            <a:r>
              <a:rPr sz="1100" b="1" i="0">
                <a:solidFill>
                  <a:srgbClr val="0E9F9A"/>
                </a:solidFill>
                <a:latin typeface="Aptos"/>
              </a:rPr>
              <a:t>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578608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DPR /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2999232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语义向量召回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参数化模型结合外部知识</a:t>
            </a:r>
          </a:p>
        </p:txBody>
      </p:sp>
      <p:sp>
        <p:nvSpPr>
          <p:cNvPr id="23" name="Oval 22"/>
          <p:cNvSpPr/>
          <p:nvPr/>
        </p:nvSpPr>
        <p:spPr>
          <a:xfrm>
            <a:off x="7306056" y="1636776"/>
            <a:ext cx="274320" cy="274320"/>
          </a:xfrm>
          <a:prstGeom prst="ellipse">
            <a:avLst/>
          </a:prstGeom>
          <a:solidFill>
            <a:srgbClr val="2166A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2084831"/>
            <a:ext cx="254203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26771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00" b="1" i="0">
                <a:solidFill>
                  <a:srgbClr val="2166A5"/>
                </a:solidFill>
                <a:latin typeface="Aptos"/>
              </a:defRPr>
            </a:pPr>
            <a:r>
              <a:rPr sz="1100" b="1" i="0">
                <a:solidFill>
                  <a:srgbClr val="2166A5"/>
                </a:solidFill>
                <a:latin typeface="Aptos"/>
              </a:rP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578608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模块化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999232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检索、生成与评估协同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从拼接走向受控编排</a:t>
            </a:r>
          </a:p>
        </p:txBody>
      </p:sp>
      <p:sp>
        <p:nvSpPr>
          <p:cNvPr id="28" name="Oval 27"/>
          <p:cNvSpPr/>
          <p:nvPr/>
        </p:nvSpPr>
        <p:spPr>
          <a:xfrm>
            <a:off x="10094976" y="1636776"/>
            <a:ext cx="274320" cy="274320"/>
          </a:xfrm>
          <a:prstGeom prst="ellipse">
            <a:avLst/>
          </a:prstGeom>
          <a:solidFill>
            <a:srgbClr val="0E9F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19" y="2084831"/>
            <a:ext cx="254203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2267712"/>
            <a:ext cx="6766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00" b="1" i="0">
                <a:solidFill>
                  <a:srgbClr val="0E9F9A"/>
                </a:solidFill>
                <a:latin typeface="Aptos"/>
              </a:defRPr>
            </a:pPr>
            <a:r>
              <a:rPr sz="1100" b="1" i="0">
                <a:solidFill>
                  <a:srgbClr val="0E9F9A"/>
                </a:solidFill>
                <a:latin typeface="Aptos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578608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多语嵌入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999232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多语、多粒度知识表示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支持中英文资料处理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91363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</a:rPr>
              <a:t>本项目切入点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959352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900" b="0" i="0">
                <a:solidFill>
                  <a:srgbClr val="62788A"/>
                </a:solidFill>
                <a:latin typeface="Microsoft YaHei"/>
              </a:defRPr>
            </a:pPr>
            <a:r>
              <a:rPr sz="900" b="0" i="0">
                <a:solidFill>
                  <a:srgbClr val="62788A"/>
                </a:solidFill>
                <a:latin typeface="Microsoft YaHei"/>
              </a:rPr>
              <a:t>调研来源：[1]–[8]，详见开题报告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407408"/>
            <a:ext cx="1207008" cy="329184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407408"/>
            <a:ext cx="120700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087F7B"/>
                </a:solidFill>
                <a:latin typeface="Microsoft YaHei"/>
              </a:defRPr>
            </a:pPr>
            <a:r>
              <a:rPr sz="1000" b="1" i="0">
                <a:solidFill>
                  <a:srgbClr val="087F7B"/>
                </a:solidFill>
                <a:latin typeface="Microsoft YaHei"/>
              </a:rPr>
              <a:t>双路召回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41655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0" i="0">
                <a:solidFill>
                  <a:srgbClr val="18324A"/>
                </a:solidFill>
                <a:latin typeface="Microsoft YaHei"/>
              </a:defRPr>
            </a:pPr>
            <a:r>
              <a:rPr sz="1200" b="0" i="0">
                <a:solidFill>
                  <a:srgbClr val="18324A"/>
                </a:solidFill>
                <a:latin typeface="Microsoft YaHei"/>
              </a:rPr>
              <a:t>语义匹配 + 术语型号精确匹配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011680" y="4828032"/>
            <a:ext cx="9582912" cy="0"/>
          </a:xfrm>
          <a:prstGeom prst="line">
            <a:avLst/>
          </a:prstGeom>
          <a:ln w="889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94360" y="4910328"/>
            <a:ext cx="1207008" cy="329184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910328"/>
            <a:ext cx="120700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2166A5"/>
                </a:solidFill>
                <a:latin typeface="Microsoft YaHei"/>
              </a:defRPr>
            </a:pPr>
            <a:r>
              <a:rPr sz="1000" b="1" i="0">
                <a:solidFill>
                  <a:srgbClr val="2166A5"/>
                </a:solidFill>
                <a:latin typeface="Microsoft YaHei"/>
              </a:rPr>
              <a:t>候选精炼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91947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0" i="0">
                <a:solidFill>
                  <a:srgbClr val="18324A"/>
                </a:solidFill>
                <a:latin typeface="Microsoft YaHei"/>
              </a:defRPr>
            </a:pPr>
            <a:r>
              <a:rPr sz="1200" b="0" i="0">
                <a:solidFill>
                  <a:srgbClr val="18324A"/>
                </a:solidFill>
                <a:latin typeface="Microsoft YaHei"/>
              </a:rPr>
              <a:t>RRF 融合 + 重排序 + 上下文预算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11680" y="5330952"/>
            <a:ext cx="9582912" cy="0"/>
          </a:xfrm>
          <a:prstGeom prst="line">
            <a:avLst/>
          </a:prstGeom>
          <a:ln w="889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94360" y="5413248"/>
            <a:ext cx="1207008" cy="329184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413248"/>
            <a:ext cx="120700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087F7B"/>
                </a:solidFill>
                <a:latin typeface="Microsoft YaHei"/>
              </a:defRPr>
            </a:pPr>
            <a:r>
              <a:rPr sz="1000" b="1" i="0">
                <a:solidFill>
                  <a:srgbClr val="087F7B"/>
                </a:solidFill>
                <a:latin typeface="Microsoft YaHei"/>
              </a:rPr>
              <a:t>可信输出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42239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0" i="0">
                <a:solidFill>
                  <a:srgbClr val="18324A"/>
                </a:solidFill>
                <a:latin typeface="Microsoft YaHei"/>
              </a:defRPr>
            </a:pPr>
            <a:r>
              <a:rPr sz="1200" b="0" i="0">
                <a:solidFill>
                  <a:srgbClr val="18324A"/>
                </a:solidFill>
                <a:latin typeface="Microsoft YaHei"/>
              </a:rPr>
              <a:t>引用白名单 + 引用快照 + 证据不足拒答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03  /  研究目标与范围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轻量部署、完整闭环、人机协同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3384686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04  / 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081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1600" b="1" i="0">
                <a:solidFill>
                  <a:srgbClr val="102A43"/>
                </a:solidFill>
                <a:latin typeface="Microsoft YaHei"/>
              </a:rPr>
              <a:t>本期实现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417320"/>
            <a:ext cx="1508760" cy="292608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1732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2166A5"/>
                </a:solidFill>
                <a:latin typeface="Microsoft YaHei"/>
              </a:defRPr>
            </a:pPr>
            <a:r>
              <a:rPr sz="950" b="1" i="0">
                <a:solidFill>
                  <a:srgbClr val="2166A5"/>
                </a:solidFill>
                <a:latin typeface="Microsoft YaHei"/>
              </a:rPr>
              <a:t>5 项核心能力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47088"/>
            <a:ext cx="55138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1947672"/>
            <a:ext cx="356616" cy="356616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47672"/>
            <a:ext cx="356616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1920240"/>
            <a:ext cx="45537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18324A"/>
                </a:solidFill>
                <a:latin typeface="Microsoft YaHei"/>
              </a:defRPr>
            </a:pPr>
            <a:r>
              <a:rPr sz="1150" b="0" i="0">
                <a:solidFill>
                  <a:srgbClr val="18324A"/>
                </a:solidFill>
                <a:latin typeface="Microsoft YaHei"/>
              </a:rPr>
              <a:t>文本型 PDF 上传、页级解析、分块和版本化索引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69464"/>
            <a:ext cx="55138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2670048"/>
            <a:ext cx="356616" cy="356616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2670048"/>
            <a:ext cx="356616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2642616"/>
            <a:ext cx="45537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18324A"/>
                </a:solidFill>
                <a:latin typeface="Microsoft YaHei"/>
              </a:defRPr>
            </a:pPr>
            <a:r>
              <a:rPr sz="1150" b="0" i="0">
                <a:solidFill>
                  <a:srgbClr val="18324A"/>
                </a:solidFill>
                <a:latin typeface="Microsoft YaHei"/>
              </a:rPr>
              <a:t>稠密向量 + BM25 + RRF + 重排序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91840"/>
            <a:ext cx="55138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3392424"/>
            <a:ext cx="356616" cy="356616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392424"/>
            <a:ext cx="356616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364992"/>
            <a:ext cx="45537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18324A"/>
                </a:solidFill>
                <a:latin typeface="Microsoft YaHei"/>
              </a:defRPr>
            </a:pPr>
            <a:r>
              <a:rPr sz="1150" b="0" i="0">
                <a:solidFill>
                  <a:srgbClr val="18324A"/>
                </a:solidFill>
                <a:latin typeface="Microsoft YaHei"/>
              </a:rPr>
              <a:t>知识问答与结构化加工指令草案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014216"/>
            <a:ext cx="55138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84" y="4114800"/>
            <a:ext cx="356616" cy="356616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114800"/>
            <a:ext cx="356616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087368"/>
            <a:ext cx="45537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18324A"/>
                </a:solidFill>
                <a:latin typeface="Microsoft YaHei"/>
              </a:defRPr>
            </a:pPr>
            <a:r>
              <a:rPr sz="1150" b="0" i="0">
                <a:solidFill>
                  <a:srgbClr val="18324A"/>
                </a:solidFill>
                <a:latin typeface="Microsoft YaHei"/>
              </a:rPr>
              <a:t>多轮改写、引用定位、历史隔离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736592"/>
            <a:ext cx="55138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6384" y="4837176"/>
            <a:ext cx="356616" cy="356616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837176"/>
            <a:ext cx="356616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4809744"/>
            <a:ext cx="455371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0" i="0">
                <a:solidFill>
                  <a:srgbClr val="18324A"/>
                </a:solidFill>
                <a:latin typeface="Microsoft YaHei"/>
              </a:defRPr>
            </a:pPr>
            <a:r>
              <a:rPr sz="1150" b="0" i="0">
                <a:solidFill>
                  <a:srgbClr val="18324A"/>
                </a:solidFill>
                <a:latin typeface="Microsoft YaHei"/>
              </a:rPr>
              <a:t>固定测试集、人工评分和结果导出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1417320"/>
            <a:ext cx="5212080" cy="452628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1709928"/>
            <a:ext cx="1481328" cy="274320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70992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50" b="1" i="0">
                <a:solidFill>
                  <a:srgbClr val="91DDD5"/>
                </a:solidFill>
                <a:latin typeface="Microsoft YaHei"/>
              </a:defRPr>
            </a:pPr>
            <a:r>
              <a:rPr sz="850" b="1" i="0">
                <a:solidFill>
                  <a:srgbClr val="91DDD5"/>
                </a:solidFill>
                <a:latin typeface="Microsoft YaHei"/>
              </a:rPr>
              <a:t>SCOPE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103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900" b="1" i="0">
                <a:solidFill>
                  <a:srgbClr val="FFFFFF"/>
                </a:solidFill>
                <a:latin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</a:rPr>
              <a:t>明确不做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F2B86A"/>
                </a:solidFill>
                <a:latin typeface="Microsoft YaHei"/>
              </a:defRPr>
            </a:pPr>
            <a:r>
              <a:rPr sz="1500" b="1" i="0">
                <a:solidFill>
                  <a:srgbClr val="F2B86A"/>
                </a:solidFill>
                <a:latin typeface="Microsoft YaHei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752344"/>
            <a:ext cx="40416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D8E4EB"/>
                </a:solidFill>
                <a:latin typeface="Microsoft YaHei"/>
              </a:defRPr>
            </a:pPr>
            <a:r>
              <a:rPr sz="1120" b="0" i="0">
                <a:solidFill>
                  <a:srgbClr val="D8E4EB"/>
                </a:solidFill>
                <a:latin typeface="Microsoft YaHei"/>
              </a:rPr>
              <a:t>可直接执行的 G 代码与机床控制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2369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F2B86A"/>
                </a:solidFill>
                <a:latin typeface="Microsoft YaHei"/>
              </a:defRPr>
            </a:pPr>
            <a:r>
              <a:rPr sz="1500" b="1" i="0">
                <a:solidFill>
                  <a:srgbClr val="F2B86A"/>
                </a:solidFill>
                <a:latin typeface="Microsoft YaHei"/>
              </a:rPr>
              <a:t>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246120"/>
            <a:ext cx="40416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D8E4EB"/>
                </a:solidFill>
                <a:latin typeface="Microsoft YaHei"/>
              </a:defRPr>
            </a:pPr>
            <a:r>
              <a:rPr sz="1120" b="0" i="0">
                <a:solidFill>
                  <a:srgbClr val="D8E4EB"/>
                </a:solidFill>
                <a:latin typeface="Microsoft YaHei"/>
              </a:rPr>
              <a:t>CAD 图纸与三维几何特征理解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F2B86A"/>
                </a:solidFill>
                <a:latin typeface="Microsoft YaHei"/>
              </a:defRPr>
            </a:pPr>
            <a:r>
              <a:rPr sz="1500" b="1" i="0">
                <a:solidFill>
                  <a:srgbClr val="F2B86A"/>
                </a:solidFill>
                <a:latin typeface="Microsoft YaHei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3739896"/>
            <a:ext cx="40416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D8E4EB"/>
                </a:solidFill>
                <a:latin typeface="Microsoft YaHei"/>
              </a:defRPr>
            </a:pPr>
            <a:r>
              <a:rPr sz="1120" b="0" i="0">
                <a:solidFill>
                  <a:srgbClr val="D8E4EB"/>
                </a:solidFill>
                <a:latin typeface="Microsoft YaHei"/>
              </a:rPr>
              <a:t>模型预训练或微调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42245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F2B86A"/>
                </a:solidFill>
                <a:latin typeface="Microsoft YaHei"/>
              </a:defRPr>
            </a:pPr>
            <a:r>
              <a:rPr sz="1500" b="1" i="0">
                <a:solidFill>
                  <a:srgbClr val="F2B86A"/>
                </a:solidFill>
                <a:latin typeface="Microsoft YaHei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233672"/>
            <a:ext cx="40416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D8E4EB"/>
                </a:solidFill>
                <a:latin typeface="Microsoft YaHei"/>
              </a:defRPr>
            </a:pPr>
            <a:r>
              <a:rPr sz="1120" b="0" i="0">
                <a:solidFill>
                  <a:srgbClr val="D8E4EB"/>
                </a:solidFill>
                <a:latin typeface="Microsoft YaHei"/>
              </a:rPr>
              <a:t>企业级多租户与复杂业务系统集成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675120" y="4892040"/>
            <a:ext cx="4608576" cy="0"/>
          </a:xfrm>
          <a:prstGeom prst="line">
            <a:avLst/>
          </a:prstGeom>
          <a:ln w="12700">
            <a:solidFill>
              <a:srgbClr val="365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75120" y="5102352"/>
            <a:ext cx="4480560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150" b="1" i="0">
                <a:solidFill>
                  <a:srgbClr val="91DDD5"/>
                </a:solidFill>
                <a:latin typeface="Microsoft YaHei"/>
              </a:defRPr>
            </a:pPr>
            <a:r>
              <a:rPr sz="1150" b="1" i="0">
                <a:solidFill>
                  <a:srgbClr val="91DDD5"/>
                </a:solidFill>
                <a:latin typeface="Microsoft YaHei"/>
              </a:rPr>
              <a:t>缺失信息标“待确认”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150" b="1" i="0">
                <a:solidFill>
                  <a:srgbClr val="91DDD5"/>
                </a:solidFill>
                <a:latin typeface="Microsoft YaHei"/>
              </a:defRPr>
            </a:pPr>
            <a:r>
              <a:rPr sz="1150" b="1" i="0">
                <a:solidFill>
                  <a:srgbClr val="91DDD5"/>
                </a:solidFill>
                <a:latin typeface="Microsoft YaHei"/>
              </a:rPr>
              <a:t>不编造看似完整的生产参数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04  /  系统需求与 UML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三类角色，围绕同一知识闭环协作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4230858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05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3822191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608358"/>
            <a:ext cx="3547872" cy="41716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45152" y="1417320"/>
            <a:ext cx="6949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1417320"/>
            <a:ext cx="64008" cy="932688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0" y="1655064"/>
            <a:ext cx="448056" cy="448056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655064"/>
            <a:ext cx="44805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E9F9A"/>
                </a:solidFill>
                <a:latin typeface="Aptos"/>
              </a:defRPr>
            </a:pPr>
            <a:r>
              <a:rPr sz="950" b="1" i="0">
                <a:solidFill>
                  <a:srgbClr val="0E9F9A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57276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工艺人员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知识问答｜加工指令草案｜连续追问｜查看引用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569464"/>
            <a:ext cx="6949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69464"/>
            <a:ext cx="64008" cy="932688"/>
          </a:xfrm>
          <a:prstGeom prst="rect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0" y="2807208"/>
            <a:ext cx="448056" cy="448056"/>
          </a:xfrm>
          <a:prstGeom prst="ellipse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807208"/>
            <a:ext cx="44805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2166A5"/>
                </a:solidFill>
                <a:latin typeface="Aptos"/>
              </a:defRPr>
            </a:pPr>
            <a:r>
              <a:rPr sz="950" b="1" i="0">
                <a:solidFill>
                  <a:srgbClr val="2166A5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2491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知识库管理员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108960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上传 PDF｜重建或删除｜状态与失败原因｜任务重试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5152" y="3721608"/>
            <a:ext cx="6949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3721608"/>
            <a:ext cx="64008" cy="932688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7760" y="3959352"/>
            <a:ext cx="448056" cy="448056"/>
          </a:xfrm>
          <a:prstGeom prst="ellipse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959352"/>
            <a:ext cx="44805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E9A23B"/>
                </a:solidFill>
                <a:latin typeface="Aptos"/>
              </a:defRPr>
            </a:pPr>
            <a:r>
              <a:rPr sz="950" b="1" i="0">
                <a:solidFill>
                  <a:srgbClr val="E9A23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877056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评估人员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261104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固定测试集执行｜检索诊断｜人工评分｜结果导出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5152" y="4956048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 w="10160">
            <a:solidFill>
              <a:srgbClr val="BF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92040" y="5157216"/>
            <a:ext cx="804672" cy="292608"/>
          </a:xfrm>
          <a:prstGeom prst="roundRect">
            <a:avLst>
              <a:gd name="adj" fmla="val 12000"/>
            </a:avLst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5157216"/>
            <a:ext cx="8046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Microsoft YaHei"/>
              </a:defRPr>
            </a:pPr>
            <a:r>
              <a:rPr sz="950" b="1" i="0">
                <a:solidFill>
                  <a:srgbClr val="FFFFFF"/>
                </a:solidFill>
                <a:latin typeface="Microsoft YaHei"/>
              </a:rPr>
              <a:t>P0 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024" y="5111496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50" b="1" i="0">
                <a:solidFill>
                  <a:srgbClr val="087F7B"/>
                </a:solidFill>
                <a:latin typeface="Microsoft YaHei"/>
              </a:defRPr>
            </a:pPr>
            <a:r>
              <a:rPr sz="1150" b="1" i="0">
                <a:solidFill>
                  <a:srgbClr val="087F7B"/>
                </a:solidFill>
                <a:latin typeface="Microsoft YaHei"/>
              </a:rPr>
              <a:t>仅 READY 文档参与检索；引用必须来自实际上下文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05  /  UML 构件设计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单体服务 + 单 Worker，离线在线解耦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5077030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06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89888"/>
            <a:ext cx="11000232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744" y="1527048"/>
            <a:ext cx="6947462" cy="40965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56448" y="1572768"/>
            <a:ext cx="3063240" cy="329184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7276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Microsoft YaHei"/>
              </a:defRPr>
            </a:pPr>
            <a:r>
              <a:rPr sz="950" b="1" i="0">
                <a:solidFill>
                  <a:srgbClr val="FFFFFF"/>
                </a:solidFill>
                <a:latin typeface="Microsoft YaHei"/>
              </a:rPr>
              <a:t>权威元数据：SQLite｜索引可重建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79592"/>
            <a:ext cx="96012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50" b="1" i="0">
                <a:solidFill>
                  <a:srgbClr val="087F7B"/>
                </a:solidFill>
                <a:latin typeface="Microsoft YaHei"/>
              </a:defRPr>
            </a:pPr>
            <a:r>
              <a:rPr sz="1050" b="1" i="0">
                <a:solidFill>
                  <a:srgbClr val="087F7B"/>
                </a:solidFill>
                <a:latin typeface="Microsoft YaHei"/>
              </a:rPr>
              <a:t>轻量部署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5870448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50" b="0" i="0">
                <a:solidFill>
                  <a:srgbClr val="62788A"/>
                </a:solidFill>
                <a:latin typeface="Microsoft YaHei"/>
              </a:defRPr>
            </a:pPr>
            <a:r>
              <a:rPr sz="1050" b="0" i="0">
                <a:solidFill>
                  <a:srgbClr val="62788A"/>
                </a:solidFill>
                <a:latin typeface="Microsoft YaHei"/>
              </a:rPr>
              <a:t>以清晰的数据边界连接文档入库、混合检索、受控生成与评估。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06  /  UML 活动设计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暂存构建，校验通过后原子发布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5923201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07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3822191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6" y="1554480"/>
            <a:ext cx="2648698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45152" y="1417320"/>
            <a:ext cx="6949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01184" y="1618488"/>
            <a:ext cx="438912" cy="438912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161848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rPr sz="9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554480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页级解析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1911095"/>
            <a:ext cx="5596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40" b="0" i="0">
                <a:solidFill>
                  <a:srgbClr val="62788A"/>
                </a:solidFill>
                <a:latin typeface="Microsoft YaHei"/>
              </a:defRPr>
            </a:pPr>
            <a:r>
              <a:rPr sz="1040" b="0" i="0">
                <a:solidFill>
                  <a:srgbClr val="62788A"/>
                </a:solidFill>
                <a:latin typeface="Microsoft YaHei"/>
              </a:rPr>
              <a:t>保留文档、页码、原文与文本块映射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2276856"/>
            <a:ext cx="0" cy="210312"/>
          </a:xfrm>
          <a:prstGeom prst="line">
            <a:avLst/>
          </a:prstGeom>
          <a:ln w="17780">
            <a:solidFill>
              <a:srgbClr val="9FC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45152" y="2487168"/>
            <a:ext cx="6949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01184" y="2688336"/>
            <a:ext cx="438912" cy="438912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26883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rPr sz="9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2624327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双路暂存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2980944"/>
            <a:ext cx="5596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40" b="0" i="0">
                <a:solidFill>
                  <a:srgbClr val="62788A"/>
                </a:solidFill>
                <a:latin typeface="Microsoft YaHei"/>
              </a:defRPr>
            </a:pPr>
            <a:r>
              <a:rPr sz="1040" b="0" i="0">
                <a:solidFill>
                  <a:srgbClr val="62788A"/>
                </a:solidFill>
                <a:latin typeface="Microsoft YaHei"/>
              </a:rPr>
              <a:t>Qdrant 与 BM25 基于同一内容版本构建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3346703"/>
            <a:ext cx="0" cy="210312"/>
          </a:xfrm>
          <a:prstGeom prst="line">
            <a:avLst/>
          </a:prstGeom>
          <a:ln w="17780">
            <a:solidFill>
              <a:srgbClr val="9FC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45152" y="3557015"/>
            <a:ext cx="6949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01184" y="3758183"/>
            <a:ext cx="438912" cy="438912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1184" y="3758183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rPr sz="9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3694176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一致性校验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050791"/>
            <a:ext cx="5596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40" b="0" i="0">
                <a:solidFill>
                  <a:srgbClr val="62788A"/>
                </a:solidFill>
                <a:latin typeface="Microsoft YaHei"/>
              </a:defRPr>
            </a:pPr>
            <a:r>
              <a:rPr sz="1040" b="0" i="0">
                <a:solidFill>
                  <a:srgbClr val="62788A"/>
                </a:solidFill>
                <a:latin typeface="Microsoft YaHei"/>
              </a:rPr>
              <a:t>失败不发布，记录阶段并从安全阶段重试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20640" y="4416552"/>
            <a:ext cx="0" cy="210312"/>
          </a:xfrm>
          <a:prstGeom prst="line">
            <a:avLst/>
          </a:prstGeom>
          <a:ln w="17780">
            <a:solidFill>
              <a:srgbClr val="9FC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45152" y="4626864"/>
            <a:ext cx="6949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01184" y="4828031"/>
            <a:ext cx="438912" cy="438912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01184" y="4828031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rPr sz="9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4764024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活动版本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5120640"/>
            <a:ext cx="5596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40" b="0" i="0">
                <a:solidFill>
                  <a:srgbClr val="62788A"/>
                </a:solidFill>
                <a:latin typeface="Microsoft YaHei"/>
              </a:defRPr>
            </a:pPr>
            <a:r>
              <a:rPr sz="1040" b="0" i="0">
                <a:solidFill>
                  <a:srgbClr val="62788A"/>
                </a:solidFill>
                <a:latin typeface="Microsoft YaHei"/>
              </a:rPr>
              <a:t>重建时旧版本继续服务，发布后异步清理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45152" y="5733288"/>
            <a:ext cx="6949440" cy="256032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5724144"/>
            <a:ext cx="662940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30" b="0" i="0">
                <a:solidFill>
                  <a:srgbClr val="62788A"/>
                </a:solidFill>
                <a:latin typeface="Microsoft YaHei"/>
              </a:defRPr>
            </a:pPr>
            <a:r>
              <a:rPr sz="930" b="0" i="0">
                <a:solidFill>
                  <a:srgbClr val="62788A"/>
                </a:solidFill>
                <a:latin typeface="Microsoft YaHei"/>
              </a:rPr>
              <a:t>核心原则：新版本未通过校验前，线上服务始终使用旧版本。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07  /  核心检索方案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以排名融合，兼顾语义与精确匹配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6769373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08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29968"/>
            <a:ext cx="1581912" cy="987552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212848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350" b="1" i="0">
                <a:solidFill>
                  <a:srgbClr val="FFFFFF"/>
                </a:solidFill>
                <a:latin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独立检索问题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606040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80" b="0" i="0">
                <a:solidFill>
                  <a:srgbClr val="B7CBD8"/>
                </a:solidFill>
                <a:latin typeface="Microsoft YaHei"/>
              </a:defRPr>
            </a:pPr>
            <a:r>
              <a:rPr sz="880" b="0" i="0">
                <a:solidFill>
                  <a:srgbClr val="B7CBD8"/>
                </a:solidFill>
                <a:latin typeface="Microsoft YaHei"/>
              </a:rPr>
              <a:t>多轮历史仅用于改写</a:t>
            </a:r>
          </a:p>
        </p:txBody>
      </p:sp>
      <p:sp>
        <p:nvSpPr>
          <p:cNvPr id="15" name="Chevron 14"/>
          <p:cNvSpPr/>
          <p:nvPr/>
        </p:nvSpPr>
        <p:spPr>
          <a:xfrm>
            <a:off x="2350008" y="2359152"/>
            <a:ext cx="219456" cy="310896"/>
          </a:xfrm>
          <a:prstGeom prst="chevron">
            <a:avLst/>
          </a:prstGeom>
          <a:solidFill>
            <a:srgbClr val="9D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2587752" y="1764792"/>
            <a:ext cx="0" cy="749808"/>
          </a:xfrm>
          <a:prstGeom prst="line">
            <a:avLst/>
          </a:prstGeom>
          <a:ln w="16510">
            <a:solidFill>
              <a:srgbClr val="9D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87752" y="2514600"/>
            <a:ext cx="0" cy="749808"/>
          </a:xfrm>
          <a:prstGeom prst="line">
            <a:avLst/>
          </a:prstGeom>
          <a:ln w="16510">
            <a:solidFill>
              <a:srgbClr val="9D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70632" y="1417320"/>
            <a:ext cx="193852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1417320"/>
            <a:ext cx="54864" cy="89611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572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50" b="1" i="0">
                <a:solidFill>
                  <a:srgbClr val="102A43"/>
                </a:solidFill>
                <a:latin typeface="Microsoft YaHei"/>
              </a:defRPr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稠密向量召回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1938528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40" b="0" i="0">
                <a:solidFill>
                  <a:srgbClr val="62788A"/>
                </a:solidFill>
                <a:latin typeface="Microsoft YaHei"/>
              </a:defRPr>
            </a:pPr>
            <a:r>
              <a:rPr sz="940" b="0" i="0">
                <a:solidFill>
                  <a:srgbClr val="62788A"/>
                </a:solidFill>
                <a:latin typeface="Microsoft YaHei"/>
              </a:rPr>
              <a:t>同义表达 / 自然语言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70632" y="2907792"/>
            <a:ext cx="193852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70632" y="2907792"/>
            <a:ext cx="54864" cy="896112"/>
          </a:xfrm>
          <a:prstGeom prst="rect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063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50" b="1" i="0">
                <a:solidFill>
                  <a:srgbClr val="102A43"/>
                </a:solidFill>
                <a:latin typeface="Microsoft YaHei"/>
              </a:defRPr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BM25 稀疏召回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429000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40" b="0" i="0">
                <a:solidFill>
                  <a:srgbClr val="62788A"/>
                </a:solidFill>
                <a:latin typeface="Microsoft YaHei"/>
              </a:defRPr>
            </a:pPr>
            <a:r>
              <a:rPr sz="940" b="0" i="0">
                <a:solidFill>
                  <a:srgbClr val="62788A"/>
                </a:solidFill>
                <a:latin typeface="Microsoft YaHei"/>
              </a:rPr>
              <a:t>术语 / 型号 / 数值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09160" y="1865376"/>
            <a:ext cx="466344" cy="640080"/>
          </a:xfrm>
          <a:prstGeom prst="line">
            <a:avLst/>
          </a:prstGeom>
          <a:ln w="16510">
            <a:solidFill>
              <a:srgbClr val="9D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09160" y="2670048"/>
            <a:ext cx="466344" cy="685800"/>
          </a:xfrm>
          <a:prstGeom prst="line">
            <a:avLst/>
          </a:prstGeom>
          <a:ln w="16510">
            <a:solidFill>
              <a:srgbClr val="9D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30368" y="2075688"/>
            <a:ext cx="1627632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2249424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350" b="1" i="0">
                <a:solidFill>
                  <a:srgbClr val="102A43"/>
                </a:solidFill>
                <a:latin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</a:rPr>
              <a:t>RRF 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633472"/>
            <a:ext cx="140817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40" b="0" i="0">
                <a:solidFill>
                  <a:srgbClr val="62788A"/>
                </a:solidFill>
                <a:latin typeface="Microsoft YaHei"/>
              </a:defRPr>
            </a:pPr>
            <a:r>
              <a:rPr sz="940" b="0" i="0">
                <a:solidFill>
                  <a:srgbClr val="62788A"/>
                </a:solidFill>
                <a:latin typeface="Microsoft YaHei"/>
              </a:rPr>
              <a:t>去重 / 排名归一</a:t>
            </a:r>
          </a:p>
        </p:txBody>
      </p:sp>
      <p:sp>
        <p:nvSpPr>
          <p:cNvPr id="31" name="Chevron 30"/>
          <p:cNvSpPr/>
          <p:nvPr/>
        </p:nvSpPr>
        <p:spPr>
          <a:xfrm>
            <a:off x="7022592" y="2377440"/>
            <a:ext cx="219456" cy="310896"/>
          </a:xfrm>
          <a:prstGeom prst="chevron">
            <a:avLst/>
          </a:prstGeom>
          <a:solidFill>
            <a:srgbClr val="9D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2075688"/>
            <a:ext cx="1490472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7" y="2249424"/>
            <a:ext cx="12710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350" b="1" i="0">
                <a:solidFill>
                  <a:srgbClr val="102A43"/>
                </a:solidFill>
                <a:latin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</a:rPr>
              <a:t>重排序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2633472"/>
            <a:ext cx="127101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40" b="0" i="0">
                <a:solidFill>
                  <a:srgbClr val="62788A"/>
                </a:solidFill>
                <a:latin typeface="Microsoft YaHei"/>
              </a:defRPr>
            </a:pPr>
            <a:r>
              <a:rPr sz="940" b="0" i="0">
                <a:solidFill>
                  <a:srgbClr val="62788A"/>
                </a:solidFill>
                <a:latin typeface="Microsoft YaHei"/>
              </a:rPr>
              <a:t>候选精炼</a:t>
            </a:r>
          </a:p>
        </p:txBody>
      </p:sp>
      <p:sp>
        <p:nvSpPr>
          <p:cNvPr id="35" name="Chevron 34"/>
          <p:cNvSpPr/>
          <p:nvPr/>
        </p:nvSpPr>
        <p:spPr>
          <a:xfrm>
            <a:off x="8970263" y="2377440"/>
            <a:ext cx="219456" cy="310896"/>
          </a:xfrm>
          <a:prstGeom prst="chevron">
            <a:avLst/>
          </a:prstGeom>
          <a:solidFill>
            <a:srgbClr val="9D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90304" y="2075688"/>
            <a:ext cx="2304288" cy="93268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224942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350" b="1" i="0">
                <a:solidFill>
                  <a:srgbClr val="FFFFFF"/>
                </a:solidFill>
                <a:latin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受控生成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2633472"/>
            <a:ext cx="20848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40" b="0" i="0">
                <a:solidFill>
                  <a:srgbClr val="B7CBD8"/>
                </a:solidFill>
                <a:latin typeface="Microsoft YaHei"/>
              </a:defRPr>
            </a:pPr>
            <a:r>
              <a:rPr sz="940" b="0" i="0">
                <a:solidFill>
                  <a:srgbClr val="B7CBD8"/>
                </a:solidFill>
                <a:latin typeface="Microsoft YaHei"/>
              </a:rPr>
              <a:t>预算 / 引用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224528"/>
            <a:ext cx="6236208" cy="1042415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0160">
            <a:solidFill>
              <a:srgbClr val="CE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2104" y="4443984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4443984"/>
            <a:ext cx="60350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RRF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4208" y="437997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102A43"/>
                </a:solidFill>
                <a:latin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</a:rPr>
              <a:t>RRFScore(d) = Σᵢ 1 / (k + rankᵢ(d))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64208" y="481888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69" b="0" i="0">
                <a:solidFill>
                  <a:srgbClr val="62788A"/>
                </a:solidFill>
                <a:latin typeface="Microsoft YaHei"/>
              </a:defRPr>
            </a:pPr>
            <a:r>
              <a:rPr sz="969" b="0" i="0">
                <a:solidFill>
                  <a:srgbClr val="62788A"/>
                </a:solidFill>
                <a:latin typeface="Microsoft YaHei"/>
              </a:rPr>
              <a:t>只融合排名，不直接比较向量分数与 BM25 分数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59168" y="4224528"/>
            <a:ext cx="4535424" cy="1042415"/>
          </a:xfrm>
          <a:prstGeom prst="roundRect">
            <a:avLst>
              <a:gd name="adj" fmla="val 12000"/>
            </a:avLst>
          </a:prstGeom>
          <a:solidFill>
            <a:srgbClr val="FFF5E5"/>
          </a:solidFill>
          <a:ln w="10160">
            <a:solidFill>
              <a:srgbClr val="F0D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06056" y="4407408"/>
            <a:ext cx="4041648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9A6418"/>
                </a:solidFill>
                <a:latin typeface="Microsoft YaHei"/>
              </a:defRPr>
            </a:pPr>
            <a:r>
              <a:rPr sz="1450" b="1" i="0">
                <a:solidFill>
                  <a:srgbClr val="9A6418"/>
                </a:solidFill>
                <a:latin typeface="Microsoft YaHei"/>
              </a:rPr>
              <a:t>证据不足  →  明确拒答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06056" y="4818888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60" b="0" i="0">
                <a:solidFill>
                  <a:srgbClr val="765321"/>
                </a:solidFill>
                <a:latin typeface="Microsoft YaHei"/>
              </a:defRPr>
            </a:pPr>
            <a:r>
              <a:rPr sz="960" b="0" i="0">
                <a:solidFill>
                  <a:srgbClr val="765321"/>
                </a:solidFill>
                <a:latin typeface="Microsoft YaHei"/>
              </a:rPr>
              <a:t>无候选、低于阈值或上下文校验失败时，不编造答案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61441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30" b="0" i="0">
                <a:solidFill>
                  <a:srgbClr val="62788A"/>
                </a:solidFill>
                <a:latin typeface="Microsoft YaHei"/>
              </a:defRPr>
            </a:pPr>
            <a:r>
              <a:rPr sz="1030" b="0" i="0">
                <a:solidFill>
                  <a:srgbClr val="62788A"/>
                </a:solidFill>
                <a:latin typeface="Microsoft YaHei"/>
              </a:rPr>
              <a:t>待实验确定：两路 top-k、RRF 常数 k、重排序 top-n、相关性阈值和上下文预算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08  /  UML 类设计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版本、消息与引用快照构成追溯主线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7615545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09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3822191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96" y="1554480"/>
            <a:ext cx="2956318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45152" y="1417320"/>
            <a:ext cx="6949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1417320"/>
            <a:ext cx="64008" cy="1143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0" y="1636776"/>
            <a:ext cx="420624" cy="420624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636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0E9F9A"/>
                </a:solidFill>
                <a:latin typeface="Aptos"/>
              </a:defRPr>
            </a:pPr>
            <a:r>
              <a:rPr sz="900" b="1" i="0">
                <a:solidFill>
                  <a:srgbClr val="0E9F9A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1591056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</a:rPr>
              <a:t>文档知识链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2011680"/>
            <a:ext cx="559612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Aptos"/>
              </a:defRPr>
            </a:pPr>
            <a:r>
              <a:rPr sz="990" b="0" i="0">
                <a:solidFill>
                  <a:srgbClr val="62788A"/>
                </a:solidFill>
                <a:latin typeface="Aptos"/>
              </a:rPr>
              <a:t>Document 1 ─ * IndexVersion 1 ─ * Chunk</a:t>
            </a:r>
          </a:p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Aptos"/>
              </a:defRPr>
            </a:pPr>
            <a:r>
              <a:rPr sz="990" b="0" i="0">
                <a:solidFill>
                  <a:srgbClr val="62788A"/>
                </a:solidFill>
                <a:latin typeface="Aptos"/>
              </a:rPr>
              <a:t>Document 0..1 活动版本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807208"/>
            <a:ext cx="6949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807208"/>
            <a:ext cx="64008" cy="1143000"/>
          </a:xfrm>
          <a:prstGeom prst="rect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0" y="3026664"/>
            <a:ext cx="420624" cy="420624"/>
          </a:xfrm>
          <a:prstGeom prst="ellipse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0266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2166A5"/>
                </a:solidFill>
                <a:latin typeface="Aptos"/>
              </a:defRPr>
            </a:pPr>
            <a:r>
              <a:rPr sz="900" b="1" i="0">
                <a:solidFill>
                  <a:srgbClr val="2166A5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2980944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</a:rPr>
              <a:t>会话追溯链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401568"/>
            <a:ext cx="559612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Aptos"/>
              </a:defRPr>
            </a:pPr>
            <a:r>
              <a:rPr sz="990" b="0" i="0">
                <a:solidFill>
                  <a:srgbClr val="62788A"/>
                </a:solidFill>
                <a:latin typeface="Aptos"/>
              </a:rPr>
              <a:t>User 1 ─ * Conversation 1 ─ * Message</a:t>
            </a:r>
          </a:p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Aptos"/>
              </a:defRPr>
            </a:pPr>
            <a:r>
              <a:rPr sz="990" b="0" i="0">
                <a:solidFill>
                  <a:srgbClr val="62788A"/>
                </a:solidFill>
                <a:latin typeface="Aptos"/>
              </a:rPr>
              <a:t>Message 1 ─ * Citation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5152" y="4197096"/>
            <a:ext cx="6949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197096"/>
            <a:ext cx="64008" cy="1143000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7760" y="4416552"/>
            <a:ext cx="420624" cy="420624"/>
          </a:xfrm>
          <a:prstGeom prst="ellipse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4165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E9A23B"/>
                </a:solidFill>
                <a:latin typeface="Aptos"/>
              </a:defRPr>
            </a:pPr>
            <a:r>
              <a:rPr sz="900" b="1" i="0">
                <a:solidFill>
                  <a:srgbClr val="E9A23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37083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</a:rPr>
              <a:t>一致性约束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4791456"/>
            <a:ext cx="5596128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Microsoft YaHei"/>
              </a:defRPr>
            </a:pPr>
            <a:r>
              <a:rPr sz="990" b="0" i="0">
                <a:solidFill>
                  <a:srgbClr val="62788A"/>
                </a:solidFill>
                <a:latin typeface="Microsoft YaHei"/>
              </a:rPr>
              <a:t>Citation 指向来源 Chunk；历史引用保存原文快照</a:t>
            </a:r>
          </a:p>
          <a:p>
            <a:pPr algn="l">
              <a:lnSpc>
                <a:spcPct val="118000"/>
              </a:lnSpc>
              <a:spcAft>
                <a:spcPts val="0"/>
              </a:spcAft>
              <a:defRPr sz="990" b="0" i="0">
                <a:solidFill>
                  <a:srgbClr val="62788A"/>
                </a:solidFill>
                <a:latin typeface="Microsoft YaHei"/>
              </a:defRPr>
            </a:pPr>
            <a:r>
              <a:rPr sz="990" b="0" i="0">
                <a:solidFill>
                  <a:srgbClr val="62788A"/>
                </a:solidFill>
                <a:latin typeface="Microsoft YaHei"/>
              </a:rPr>
              <a:t>嵌入或分块变化必须新建索引版本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5152" y="5641848"/>
            <a:ext cx="6949440" cy="329184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565099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087F7B"/>
                </a:solidFill>
                <a:latin typeface="Microsoft YaHei"/>
              </a:defRPr>
            </a:pPr>
            <a:r>
              <a:rPr sz="1000" b="1" i="0">
                <a:solidFill>
                  <a:srgbClr val="087F7B"/>
                </a:solidFill>
                <a:latin typeface="Microsoft YaHei"/>
              </a:rPr>
              <a:t>追溯的关键：回答、引用与知识版本始终一一对应。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09  /  UML 时序设计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并行召回、分支处理、引用持久化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8461716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10  / 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7360920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278" y="1554480"/>
            <a:ext cx="5675082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83879" y="1417320"/>
            <a:ext cx="3410712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618488"/>
            <a:ext cx="393192" cy="393192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1848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18488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独立问题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21408"/>
            <a:ext cx="2816352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保留原始问题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近期历史不直接作为证据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935224"/>
            <a:ext cx="3410712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3136392"/>
            <a:ext cx="393192" cy="393192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36392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136392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备选路径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39312"/>
            <a:ext cx="2816352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证据充分：受控生成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证据不足：明确说明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453128"/>
            <a:ext cx="3410712" cy="1271016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 w="10160">
            <a:solidFill>
              <a:srgbClr val="BF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0" y="4654296"/>
            <a:ext cx="393192" cy="393192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654296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65429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450" b="1" i="0">
                <a:solidFill>
                  <a:srgbClr val="102A43"/>
                </a:solidFill>
                <a:latin typeface="Microsoft YaHei"/>
              </a:defRPr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结果可复查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157216"/>
            <a:ext cx="2816352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校验引用编号白名单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defRPr sz="1019" b="0" i="0">
                <a:solidFill>
                  <a:srgbClr val="62788A"/>
                </a:solidFill>
                <a:latin typeface="Microsoft YaHei"/>
              </a:defRPr>
            </a:pPr>
            <a:r>
              <a:rPr sz="1019" b="0" i="0">
                <a:solidFill>
                  <a:srgbClr val="62788A"/>
                </a:solidFill>
                <a:latin typeface="Microsoft YaHei"/>
              </a:rPr>
              <a:t>保存配置、消息与引用快照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10  /  技术难度与特色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关键难点与项目特色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9307888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11  / 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4173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62788A"/>
                </a:solidFill>
                <a:latin typeface="Microsoft YaHei"/>
              </a:defRPr>
            </a:pPr>
            <a:r>
              <a:rPr sz="1000" b="1" i="0">
                <a:solidFill>
                  <a:srgbClr val="62788A"/>
                </a:solidFill>
                <a:latin typeface="Microsoft YaHei"/>
              </a:rPr>
              <a:t>技术主线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62788A"/>
                </a:solidFill>
                <a:latin typeface="Microsoft YaHei"/>
              </a:defRPr>
            </a:pPr>
            <a:r>
              <a:rPr sz="1000" b="1" i="0">
                <a:solidFill>
                  <a:srgbClr val="62788A"/>
                </a:solidFill>
                <a:latin typeface="Microsoft YaHei"/>
              </a:rPr>
              <a:t>关键挑战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000" b="1" i="0">
                <a:solidFill>
                  <a:srgbClr val="62788A"/>
                </a:solidFill>
                <a:latin typeface="Microsoft YaHei"/>
              </a:defRPr>
            </a:pPr>
            <a:r>
              <a:rPr sz="1000" b="1" i="0">
                <a:solidFill>
                  <a:srgbClr val="62788A"/>
                </a:solidFill>
                <a:latin typeface="Microsoft YaHei"/>
              </a:rPr>
              <a:t>工程策略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792224"/>
            <a:ext cx="11000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1938528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93852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检索质量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1911095"/>
            <a:ext cx="376732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18324A"/>
                </a:solidFill>
                <a:latin typeface="Microsoft YaHei"/>
              </a:defRPr>
            </a:pPr>
            <a:r>
              <a:rPr sz="1120" b="0" i="0">
                <a:solidFill>
                  <a:srgbClr val="18324A"/>
                </a:solidFill>
                <a:latin typeface="Microsoft YaHei"/>
              </a:rPr>
              <a:t>语义召回与精确匹配互补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11095"/>
            <a:ext cx="47091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102A43"/>
                </a:solidFill>
                <a:latin typeface="Microsoft YaHei"/>
              </a:defRPr>
            </a:pPr>
            <a:r>
              <a:rPr sz="1120" b="1" i="0">
                <a:solidFill>
                  <a:srgbClr val="102A43"/>
                </a:solidFill>
                <a:latin typeface="Microsoft YaHei"/>
              </a:rPr>
              <a:t>双路统计 + RRF + 消融实验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542032"/>
            <a:ext cx="11000232" cy="603504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" y="2688336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688336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可信生成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2660903"/>
            <a:ext cx="376732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18324A"/>
                </a:solidFill>
                <a:latin typeface="Microsoft YaHei"/>
              </a:defRPr>
            </a:pPr>
            <a:r>
              <a:rPr sz="1120" b="0" i="0">
                <a:solidFill>
                  <a:srgbClr val="18324A"/>
                </a:solidFill>
                <a:latin typeface="Microsoft YaHei"/>
              </a:rPr>
              <a:t>避免无依据参数与伪引用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3"/>
            <a:ext cx="47091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102A43"/>
                </a:solidFill>
                <a:latin typeface="Microsoft YaHei"/>
              </a:defRPr>
            </a:pPr>
            <a:r>
              <a:rPr sz="1120" b="1" i="0">
                <a:solidFill>
                  <a:srgbClr val="102A43"/>
                </a:solidFill>
                <a:latin typeface="Microsoft YaHei"/>
              </a:rPr>
              <a:t>上下文白名单 + 引用快照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91839"/>
            <a:ext cx="11000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" y="3438144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3814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2166A5"/>
                </a:solidFill>
                <a:latin typeface="Microsoft YaHei"/>
              </a:defRPr>
            </a:pPr>
            <a:r>
              <a:rPr sz="950" b="1" i="0">
                <a:solidFill>
                  <a:srgbClr val="2166A5"/>
                </a:solidFill>
                <a:latin typeface="Microsoft YaHei"/>
              </a:rPr>
              <a:t>版本一致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3410711"/>
            <a:ext cx="376732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18324A"/>
                </a:solidFill>
                <a:latin typeface="Microsoft YaHei"/>
              </a:defRPr>
            </a:pPr>
            <a:r>
              <a:rPr sz="1120" b="0" i="0">
                <a:solidFill>
                  <a:srgbClr val="18324A"/>
                </a:solidFill>
                <a:latin typeface="Microsoft YaHei"/>
              </a:rPr>
              <a:t>重建期间避免新旧索引混用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10711"/>
            <a:ext cx="47091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102A43"/>
                </a:solidFill>
                <a:latin typeface="Microsoft YaHei"/>
              </a:defRPr>
            </a:pPr>
            <a:r>
              <a:rPr sz="1120" b="1" i="0">
                <a:solidFill>
                  <a:srgbClr val="102A43"/>
                </a:solidFill>
                <a:latin typeface="Microsoft YaHei"/>
              </a:rPr>
              <a:t>暂存索引 + 原子发布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041648"/>
            <a:ext cx="11000232" cy="603504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" y="4187952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18795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2166A5"/>
                </a:solidFill>
                <a:latin typeface="Microsoft YaHei"/>
              </a:defRPr>
            </a:pPr>
            <a:r>
              <a:rPr sz="950" b="1" i="0">
                <a:solidFill>
                  <a:srgbClr val="2166A5"/>
                </a:solidFill>
                <a:latin typeface="Microsoft YaHei"/>
              </a:rPr>
              <a:t>多轮隔离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4160520"/>
            <a:ext cx="376732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18324A"/>
                </a:solidFill>
                <a:latin typeface="Microsoft YaHei"/>
              </a:defRPr>
            </a:pPr>
            <a:r>
              <a:rPr sz="1120" b="0" i="0">
                <a:solidFill>
                  <a:srgbClr val="18324A"/>
                </a:solidFill>
                <a:latin typeface="Microsoft YaHei"/>
              </a:rPr>
              <a:t>追问可理解但历史不污染知识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60520"/>
            <a:ext cx="47091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102A43"/>
                </a:solidFill>
                <a:latin typeface="Microsoft YaHei"/>
              </a:defRPr>
            </a:pPr>
            <a:r>
              <a:rPr sz="1120" b="1" i="0">
                <a:solidFill>
                  <a:srgbClr val="102A43"/>
                </a:solidFill>
                <a:latin typeface="Microsoft YaHei"/>
              </a:rPr>
              <a:t>仅用于独立问题改写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791456"/>
            <a:ext cx="11000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4937760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937760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轻量完整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4910328"/>
            <a:ext cx="376732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0" i="0">
                <a:solidFill>
                  <a:srgbClr val="18324A"/>
                </a:solidFill>
                <a:latin typeface="Microsoft YaHei"/>
              </a:defRPr>
            </a:pPr>
            <a:r>
              <a:rPr sz="1120" b="0" i="0">
                <a:solidFill>
                  <a:srgbClr val="18324A"/>
                </a:solidFill>
                <a:latin typeface="Microsoft YaHei"/>
              </a:rPr>
              <a:t>核心链路完整且部署不过度复杂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10328"/>
            <a:ext cx="47091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102A43"/>
                </a:solidFill>
                <a:latin typeface="Microsoft YaHei"/>
              </a:defRPr>
            </a:pPr>
            <a:r>
              <a:rPr sz="1120" b="1" i="0">
                <a:solidFill>
                  <a:srgbClr val="102A43"/>
                </a:solidFill>
                <a:latin typeface="Microsoft YaHei"/>
              </a:rPr>
              <a:t>单体后端 + 单 Worker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669280"/>
            <a:ext cx="11000232" cy="38404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9671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050" b="1" i="0">
                <a:solidFill>
                  <a:srgbClr val="FFFFFF"/>
                </a:solidFill>
                <a:latin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项目特色：面向工艺场景的可核查工程链路，不以提出新基础模型为目标。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11  /  测试与可行性验证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对比实验与人工评分相互印证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10154060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12  / 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四种检索配置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65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0160">
            <a:solidFill>
              <a:srgbClr val="CE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1956816"/>
            <a:ext cx="274320" cy="274320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1929384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2166A5"/>
                </a:solidFill>
                <a:latin typeface="Microsoft YaHei"/>
              </a:defRPr>
            </a:pPr>
            <a:r>
              <a:rPr sz="1120" b="1" i="0">
                <a:solidFill>
                  <a:srgbClr val="2166A5"/>
                </a:solidFill>
                <a:latin typeface="Microsoft YaHei"/>
              </a:rPr>
              <a:t>仅稠密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65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2F9"/>
          </a:solidFill>
          <a:ln w="10160">
            <a:solidFill>
              <a:srgbClr val="CE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29000" y="1956816"/>
            <a:ext cx="274320" cy="274320"/>
          </a:xfrm>
          <a:prstGeom prst="ellipse">
            <a:avLst/>
          </a:prstGeom>
          <a:solidFill>
            <a:srgbClr val="21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9568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1929384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2166A5"/>
                </a:solidFill>
                <a:latin typeface="Microsoft YaHei"/>
              </a:defRPr>
            </a:pPr>
            <a:r>
              <a:rPr sz="1120" b="1" i="0">
                <a:solidFill>
                  <a:srgbClr val="2166A5"/>
                </a:solidFill>
                <a:latin typeface="Microsoft YaHei"/>
              </a:rPr>
              <a:t>仅 BM25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4871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 w="10160">
            <a:solidFill>
              <a:srgbClr val="BF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2578608"/>
            <a:ext cx="274320" cy="27432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5786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2551176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087F7B"/>
                </a:solidFill>
                <a:latin typeface="Microsoft YaHei"/>
              </a:defRPr>
            </a:pPr>
            <a:r>
              <a:rPr sz="1120" b="1" i="0">
                <a:solidFill>
                  <a:srgbClr val="087F7B"/>
                </a:solidFill>
                <a:latin typeface="Microsoft YaHei"/>
              </a:rPr>
              <a:t>混合召回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4871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5F6F3"/>
          </a:solidFill>
          <a:ln w="10160">
            <a:solidFill>
              <a:srgbClr val="BF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29000" y="2578608"/>
            <a:ext cx="274320" cy="27432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5786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2551176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120" b="1" i="0">
                <a:solidFill>
                  <a:srgbClr val="087F7B"/>
                </a:solidFill>
                <a:latin typeface="Microsoft YaHei"/>
              </a:defRPr>
            </a:pPr>
            <a:r>
              <a:rPr sz="1120" b="1" i="0">
                <a:solidFill>
                  <a:srgbClr val="087F7B"/>
                </a:solidFill>
                <a:latin typeface="Microsoft YaHei"/>
              </a:rPr>
              <a:t>混合 + 重排序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31012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550" b="1" i="0">
                <a:solidFill>
                  <a:srgbClr val="102A43"/>
                </a:solidFill>
                <a:latin typeface="Microsoft YaHei"/>
              </a:defRPr>
            </a:pPr>
            <a:r>
              <a:rPr sz="1550" b="1" i="0">
                <a:solidFill>
                  <a:srgbClr val="102A43"/>
                </a:solidFill>
                <a:latin typeface="Microsoft YaHei"/>
              </a:rPr>
              <a:t>测试数据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30752"/>
            <a:ext cx="51663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395020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  <a:defRPr sz="1110" b="0" i="0">
                <a:solidFill>
                  <a:srgbClr val="18324A"/>
                </a:solidFill>
                <a:latin typeface="Microsoft YaHei"/>
              </a:defRPr>
            </a:pPr>
            <a:r>
              <a:rPr sz="1110" b="0" i="0">
                <a:solidFill>
                  <a:srgbClr val="18324A"/>
                </a:solidFill>
                <a:latin typeface="Microsoft YaHei"/>
              </a:rPr>
              <a:t>≥ 3 份授权文本型 PDF</a:t>
            </a:r>
          </a:p>
          <a:p>
            <a:pPr algn="l">
              <a:lnSpc>
                <a:spcPct val="135000"/>
              </a:lnSpc>
              <a:spcAft>
                <a:spcPts val="0"/>
              </a:spcAft>
              <a:defRPr sz="1110" b="0" i="0">
                <a:solidFill>
                  <a:srgbClr val="18324A"/>
                </a:solidFill>
                <a:latin typeface="Microsoft YaHei"/>
              </a:defRPr>
            </a:pPr>
            <a:r>
              <a:rPr sz="1110" b="0" i="0">
                <a:solidFill>
                  <a:srgbClr val="18324A"/>
                </a:solidFill>
                <a:latin typeface="Microsoft YaHei"/>
              </a:rPr>
              <a:t>建议 ≥ 30 题：有答案 / 跨文档 / 多轮 / 无答案</a:t>
            </a:r>
          </a:p>
          <a:p>
            <a:pPr algn="l">
              <a:lnSpc>
                <a:spcPct val="135000"/>
              </a:lnSpc>
              <a:spcAft>
                <a:spcPts val="0"/>
              </a:spcAft>
              <a:defRPr sz="1110" b="0" i="0">
                <a:solidFill>
                  <a:srgbClr val="18324A"/>
                </a:solidFill>
                <a:latin typeface="Microsoft YaHei"/>
              </a:defRPr>
            </a:pPr>
            <a:r>
              <a:rPr sz="1110" b="0" i="0">
                <a:solidFill>
                  <a:srgbClr val="18324A"/>
                </a:solidFill>
                <a:latin typeface="Microsoft YaHei"/>
              </a:rPr>
              <a:t>覆盖上传、索引、提问、追问和引用定位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3328" y="1417320"/>
            <a:ext cx="5541264" cy="4553712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17099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人工评估维度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14432" y="1719072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16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4432" y="1719072"/>
            <a:ext cx="8961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91DDD5"/>
                </a:solidFill>
                <a:latin typeface="Microsoft YaHei"/>
              </a:defRPr>
            </a:pPr>
            <a:r>
              <a:rPr sz="950" b="1" i="0">
                <a:solidFill>
                  <a:srgbClr val="91DDD5"/>
                </a:solidFill>
                <a:latin typeface="Microsoft YaHei"/>
              </a:rPr>
              <a:t>0–2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212848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  <a:defRPr sz="1130" b="0" i="0">
                <a:solidFill>
                  <a:srgbClr val="D5E2EA"/>
                </a:solidFill>
                <a:latin typeface="Microsoft YaHei"/>
              </a:defRPr>
            </a:pPr>
            <a:r>
              <a:rPr sz="1130" b="0" i="0">
                <a:solidFill>
                  <a:srgbClr val="D5E2EA"/>
                </a:solidFill>
                <a:latin typeface="Microsoft YaHei"/>
              </a:rPr>
              <a:t>正确性｜完整性｜引用正确性</a:t>
            </a:r>
          </a:p>
          <a:p>
            <a:pPr algn="l">
              <a:lnSpc>
                <a:spcPct val="135000"/>
              </a:lnSpc>
              <a:spcAft>
                <a:spcPts val="0"/>
              </a:spcAft>
              <a:defRPr sz="1130" b="0" i="0">
                <a:solidFill>
                  <a:srgbClr val="D5E2EA"/>
                </a:solidFill>
                <a:latin typeface="Microsoft YaHei"/>
              </a:defRPr>
            </a:pPr>
            <a:r>
              <a:rPr sz="1130" b="0" i="0">
                <a:solidFill>
                  <a:srgbClr val="D5E2EA"/>
                </a:solidFill>
                <a:latin typeface="Microsoft YaHei"/>
              </a:rPr>
              <a:t>表达｜多轮一致性｜拒答合理性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4224" y="3026664"/>
            <a:ext cx="4901184" cy="0"/>
          </a:xfrm>
          <a:prstGeom prst="line">
            <a:avLst/>
          </a:prstGeom>
          <a:ln w="12700">
            <a:solidFill>
              <a:srgbClr val="365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4224" y="32552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1" i="0">
                <a:solidFill>
                  <a:srgbClr val="91DDD5"/>
                </a:solidFill>
                <a:latin typeface="Microsoft YaHei"/>
              </a:defRPr>
            </a:pPr>
            <a:r>
              <a:rPr sz="1200" b="1" i="0">
                <a:solidFill>
                  <a:srgbClr val="91DDD5"/>
                </a:solidFill>
                <a:latin typeface="Microsoft YaHei"/>
              </a:rPr>
              <a:t>建议验收参考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73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900" b="0" i="0">
                <a:solidFill>
                  <a:srgbClr val="8FAFC4"/>
                </a:solidFill>
                <a:latin typeface="Microsoft YaHei"/>
              </a:defRPr>
            </a:pPr>
            <a:r>
              <a:rPr sz="900" b="0" i="0">
                <a:solidFill>
                  <a:srgbClr val="8FAFC4"/>
                </a:solidFill>
                <a:latin typeface="Microsoft YaHei"/>
              </a:rPr>
              <a:t>非既有结果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3822191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</a:rPr>
              <a:t>≥ 80%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4379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0" i="0">
                <a:solidFill>
                  <a:srgbClr val="B7CBD8"/>
                </a:solidFill>
                <a:latin typeface="Microsoft YaHei"/>
              </a:defRPr>
            </a:pPr>
            <a:r>
              <a:rPr sz="950" b="0" i="0">
                <a:solidFill>
                  <a:srgbClr val="B7CBD8"/>
                </a:solidFill>
                <a:latin typeface="Microsoft YaHei"/>
              </a:rPr>
              <a:t>有效回答率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3822191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2712" y="4379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0" i="0">
                <a:solidFill>
                  <a:srgbClr val="B7CBD8"/>
                </a:solidFill>
                <a:latin typeface="Microsoft YaHei"/>
              </a:defRPr>
            </a:pPr>
            <a:r>
              <a:rPr sz="950" b="0" i="0">
                <a:solidFill>
                  <a:srgbClr val="B7CBD8"/>
                </a:solidFill>
                <a:latin typeface="Microsoft YaHei"/>
              </a:rPr>
              <a:t>引用可核查率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822191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379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0" i="0">
                <a:solidFill>
                  <a:srgbClr val="B7CBD8"/>
                </a:solidFill>
                <a:latin typeface="Microsoft YaHei"/>
              </a:defRPr>
            </a:pPr>
            <a:r>
              <a:rPr sz="950" b="0" i="0">
                <a:solidFill>
                  <a:srgbClr val="B7CBD8"/>
                </a:solidFill>
                <a:latin typeface="Microsoft YaHei"/>
              </a:rPr>
              <a:t>无依据关键参数率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053328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950" b="0" i="0">
                <a:solidFill>
                  <a:srgbClr val="62788A"/>
                </a:solidFill>
                <a:latin typeface="Microsoft YaHei"/>
              </a:defRPr>
            </a:pPr>
            <a:r>
              <a:rPr sz="950" b="0" i="0">
                <a:solidFill>
                  <a:srgbClr val="62788A"/>
                </a:solidFill>
                <a:latin typeface="Microsoft YaHei"/>
              </a:rPr>
              <a:t>所有结果固定知识库版本、模型与检索配置，保留失败样本以便复查。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950" b="1" i="0">
                <a:solidFill>
                  <a:srgbClr val="087F7B"/>
                </a:solidFill>
                <a:latin typeface="Microsoft YaHei"/>
              </a:defRPr>
            </a:pPr>
            <a:r>
              <a:rPr sz="950" b="1" i="0">
                <a:solidFill>
                  <a:srgbClr val="087F7B"/>
                </a:solidFill>
                <a:latin typeface="Microsoft YaHei"/>
              </a:rPr>
              <a:t>12  /  计划与交付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2300" b="1" i="0">
                <a:solidFill>
                  <a:srgbClr val="102A43"/>
                </a:solidFill>
                <a:latin typeface="Microsoft YaHei"/>
              </a:rPr>
              <a:t>进度安排与阶段成果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7432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USTC  /  ENGINEERING PRACTICE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197864"/>
            <a:ext cx="1100023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6547104"/>
            <a:ext cx="11000232" cy="0"/>
          </a:xfrm>
          <a:prstGeom prst="line">
            <a:avLst/>
          </a:prstGeom>
          <a:ln w="27940">
            <a:solidFill>
              <a:srgbClr val="0E9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318504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800" b="0" i="0">
                <a:solidFill>
                  <a:srgbClr val="62788A"/>
                </a:solidFill>
                <a:latin typeface="Microsoft YaHei"/>
              </a:defRPr>
            </a:pPr>
            <a:r>
              <a:rPr sz="800" b="0" i="0">
                <a:solidFill>
                  <a:srgbClr val="62788A"/>
                </a:solidFill>
                <a:latin typeface="Microsoft YaHei"/>
              </a:rPr>
              <a:t>基于 RAG 的轻量级企业工艺生成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9418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850" b="0" i="0">
                <a:solidFill>
                  <a:srgbClr val="62788A"/>
                </a:solidFill>
                <a:latin typeface="Aptos"/>
              </a:defRPr>
            </a:pPr>
            <a:r>
              <a:rPr sz="850" b="0" i="0">
                <a:solidFill>
                  <a:srgbClr val="62788A"/>
                </a:solidFill>
                <a:latin typeface="Aptos"/>
              </a:rPr>
              <a:t>13  / 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280160"/>
            <a:ext cx="2057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6978"/>
                </a:solidFill>
                <a:latin typeface="微软雅黑"/>
              </a:rPr>
              <a:t>阶段 / 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280160"/>
            <a:ext cx="516636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6978"/>
                </a:solidFill>
                <a:latin typeface="微软雅黑"/>
              </a:rPr>
              <a:t>主要工作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1280160"/>
            <a:ext cx="2057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6978"/>
                </a:solidFill>
                <a:latin typeface="微软雅黑"/>
              </a:rPr>
              <a:t>阶段成果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1554480"/>
            <a:ext cx="10972800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700784"/>
            <a:ext cx="402336" cy="402336"/>
          </a:xfrm>
          <a:prstGeom prst="ellipse">
            <a:avLst/>
          </a:prstGeom>
          <a:solidFill>
            <a:srgbClr val="11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1636776"/>
            <a:ext cx="2084831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3D"/>
                </a:solidFill>
                <a:latin typeface="微软雅黑"/>
              </a:rPr>
              <a:t>调研与开题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1938528"/>
            <a:ext cx="2084831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9991"/>
                </a:solidFill>
                <a:latin typeface="微软雅黑"/>
              </a:rPr>
              <a:t>本学期第7—9周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67335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1627632"/>
            <a:ext cx="5193792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6978"/>
                </a:solidFill>
                <a:latin typeface="微软雅黑"/>
              </a:rPr>
              <a:t>原定第7—8周开题顺延至第9周；完成需求分析、技术调研、系统概要设计与可行性分析，明确项目范围和评估方法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67335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627632"/>
            <a:ext cx="210312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A3D"/>
                </a:solidFill>
                <a:latin typeface="微软雅黑"/>
              </a:rPr>
              <a:t>开题报告及需求、设计文档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2331720"/>
            <a:ext cx="10972800" cy="704088"/>
          </a:xfrm>
          <a:prstGeom prst="roundRect">
            <a:avLst/>
          </a:prstGeom>
          <a:solidFill>
            <a:srgbClr val="F8FBFB"/>
          </a:solidFill>
          <a:ln w="8890">
            <a:solidFill>
              <a:srgbClr val="D3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2478024"/>
            <a:ext cx="402336" cy="402336"/>
          </a:xfrm>
          <a:prstGeom prst="ellipse">
            <a:avLst/>
          </a:prstGeom>
          <a:solidFill>
            <a:srgbClr val="11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414015"/>
            <a:ext cx="2084831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3D"/>
                </a:solidFill>
                <a:latin typeface="微软雅黑"/>
              </a:rPr>
              <a:t>核心功能开发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2715768"/>
            <a:ext cx="2084831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9991"/>
                </a:solidFill>
                <a:latin typeface="微软雅黑"/>
              </a:rPr>
              <a:t>开题后至第一学期末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2450591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404872"/>
            <a:ext cx="5193792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6978"/>
                </a:solidFill>
                <a:latin typeface="微软雅黑"/>
              </a:rPr>
              <a:t>搭建前后端与数据存储环境；实现 PDF 解析分块、向量与 BM25 索引、混合检索、重排序及基础问答，建立固定测试题集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450591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2404872"/>
            <a:ext cx="210312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A3D"/>
                </a:solidFill>
                <a:latin typeface="微软雅黑"/>
              </a:rPr>
              <a:t>可运行核心原型与阶段测试记录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3108960"/>
            <a:ext cx="10972800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3255264"/>
            <a:ext cx="402336" cy="402336"/>
          </a:xfrm>
          <a:prstGeom prst="ellipse">
            <a:avLst/>
          </a:prstGeom>
          <a:solidFill>
            <a:srgbClr val="11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3191256"/>
            <a:ext cx="2084831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3D"/>
                </a:solidFill>
                <a:latin typeface="微软雅黑"/>
              </a:rPr>
              <a:t>系统集成与中期检查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3493008"/>
            <a:ext cx="2084831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9991"/>
                </a:solidFill>
                <a:latin typeface="微软雅黑"/>
              </a:rPr>
              <a:t>寒假至第二学期开学前三周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6432" y="322783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3182112"/>
            <a:ext cx="5193792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6978"/>
                </a:solidFill>
                <a:latin typeface="微软雅黑"/>
              </a:rPr>
              <a:t>完善加工指令草案、多轮会话、引用定位和文档管理；开展前后端联调与初步评估，按课程要求参加中期检查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22783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3182112"/>
            <a:ext cx="210312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A3D"/>
                </a:solidFill>
                <a:latin typeface="微软雅黑"/>
              </a:rPr>
              <a:t>中期报告、系统演示及问题改进清单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" y="3886200"/>
            <a:ext cx="10972800" cy="704088"/>
          </a:xfrm>
          <a:prstGeom prst="roundRect">
            <a:avLst/>
          </a:prstGeom>
          <a:solidFill>
            <a:srgbClr val="F8FBFB"/>
          </a:solidFill>
          <a:ln w="8890">
            <a:solidFill>
              <a:srgbClr val="D3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4032504"/>
            <a:ext cx="402336" cy="402336"/>
          </a:xfrm>
          <a:prstGeom prst="ellipse">
            <a:avLst/>
          </a:prstGeom>
          <a:solidFill>
            <a:srgbClr val="10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3968496"/>
            <a:ext cx="2084831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3D"/>
                </a:solidFill>
                <a:latin typeface="微软雅黑"/>
              </a:rPr>
              <a:t>完善与评估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4270248"/>
            <a:ext cx="2084831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9991"/>
                </a:solidFill>
                <a:latin typeface="微软雅黑"/>
              </a:rPr>
              <a:t>中期检查后至6月中旬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6432" y="400507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9312" y="3959352"/>
            <a:ext cx="5193792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6978"/>
                </a:solidFill>
                <a:latin typeface="微软雅黑"/>
              </a:rPr>
              <a:t>修复中期发现的问题；完成多文档检索对比、人工评分、异常与权限测试，优化性能并完善部署和使用说明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00507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3959352"/>
            <a:ext cx="210312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A3D"/>
                </a:solidFill>
                <a:latin typeface="微软雅黑"/>
              </a:rPr>
              <a:t>功能完整的系统、测试评估报告及交付文档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" y="4663440"/>
            <a:ext cx="10972800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4809744"/>
            <a:ext cx="402336" cy="402336"/>
          </a:xfrm>
          <a:prstGeom prst="ellipse">
            <a:avLst/>
          </a:prstGeom>
          <a:solidFill>
            <a:srgbClr val="10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4745736"/>
            <a:ext cx="2084831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3D"/>
                </a:solidFill>
                <a:latin typeface="微软雅黑"/>
              </a:rPr>
              <a:t>结题与答辩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5047488"/>
            <a:ext cx="2084831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9991"/>
                </a:solidFill>
                <a:latin typeface="微软雅黑"/>
              </a:rPr>
              <a:t>6月末至7月初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56432" y="478231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4736592"/>
            <a:ext cx="5193792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6978"/>
                </a:solidFill>
                <a:latin typeface="微软雅黑"/>
              </a:rPr>
              <a:t>整理源代码、配置、演示数据和评估证据；完成结题报告与答辩材料，进行部署复核和演示演练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4782312"/>
            <a:ext cx="7315" cy="466344"/>
          </a:xfrm>
          <a:prstGeom prst="rect">
            <a:avLst/>
          </a:prstGeom>
          <a:solidFill>
            <a:srgbClr val="D3DE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4736592"/>
            <a:ext cx="210312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A3D"/>
                </a:solidFill>
                <a:latin typeface="微软雅黑"/>
              </a:rPr>
              <a:t>最终系统版本、结题报告及答辩材料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2648" y="5513832"/>
            <a:ext cx="10972800" cy="310896"/>
          </a:xfrm>
          <a:prstGeom prst="roundRect">
            <a:avLst/>
          </a:prstGeom>
          <a:solidFill>
            <a:srgbClr val="E8F6F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550408"/>
            <a:ext cx="10643616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9991"/>
                </a:solidFill>
                <a:latin typeface="微软雅黑"/>
              </a:rPr>
              <a:t>开题时间调整后，以各阶段可运行成果和可复现证据作为完成标准。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RAG 的轻量级企业工艺生成——开题汇报</dc:title>
  <dc:subject>美化版开题汇报</dc:subject>
  <dc:creator>中国科学技术大学</dc:creator>
  <cp:keywords>RAG, 企业工艺, 开题汇报, UML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