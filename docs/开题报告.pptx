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75488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3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300" b="1" i="0">
                <a:solidFill>
                  <a:srgbClr val="FFFFFF"/>
                </a:solidFill>
                <a:latin typeface="微软雅黑" panose="020B0503020204020204" charset="-122"/>
              </a:rPr>
              <a:t>中国科学技术大学</a:t>
            </a:r>
            <a:endParaRPr sz="13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49808" y="832104"/>
            <a:ext cx="5029200" cy="2103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750" b="0" i="0">
                <a:solidFill>
                  <a:srgbClr val="8FAFC4"/>
                </a:solidFill>
                <a:latin typeface="Aptos"/>
              </a:defRPr>
            </a:pPr>
            <a:r>
              <a:rPr sz="750" b="0" i="0">
                <a:solidFill>
                  <a:srgbClr val="8FAFC4"/>
                </a:solidFill>
                <a:latin typeface="Aptos"/>
              </a:rPr>
              <a:t>UNIVERSITY OF SCIENCE AND TECHNOLOGY OF CHINA</a:t>
            </a:r>
            <a:endParaRPr sz="750" b="0" i="0">
              <a:solidFill>
                <a:srgbClr val="8FAFC4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49808" y="1353312"/>
            <a:ext cx="1691640" cy="329184"/>
          </a:xfrm>
          <a:prstGeom prst="roundRect">
            <a:avLst>
              <a:gd name="adj" fmla="val 12000"/>
            </a:avLst>
          </a:prstGeom>
          <a:solidFill>
            <a:srgbClr val="16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353312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8FE0D7"/>
                </a:solidFill>
                <a:latin typeface="微软雅黑" panose="020B0503020204020204" charset="-122"/>
              </a:defRPr>
            </a:pPr>
            <a:r>
              <a:rPr sz="1000" b="1" i="0">
                <a:solidFill>
                  <a:srgbClr val="8FE0D7"/>
                </a:solidFill>
                <a:latin typeface="微软雅黑" panose="020B0503020204020204" charset="-122"/>
              </a:rPr>
              <a:t>工程硕士 · 开题汇报</a:t>
            </a:r>
            <a:endParaRPr sz="1000" b="1" i="0">
              <a:solidFill>
                <a:srgbClr val="8FE0D7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49808" y="1828800"/>
            <a:ext cx="6583680" cy="1417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  <a:defRPr sz="31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3100" b="1" i="0">
                <a:solidFill>
                  <a:srgbClr val="FFFFFF"/>
                </a:solidFill>
                <a:latin typeface="微软雅黑" panose="020B0503020204020204" charset="-122"/>
              </a:rPr>
              <a:t>基于 RAG 的轻量级</a:t>
            </a:r>
            <a:endParaRPr sz="3100" b="1" i="0">
              <a:solidFill>
                <a:srgbClr val="FFFFFF"/>
              </a:solidFill>
              <a:latin typeface="微软雅黑" panose="020B0503020204020204" charset="-122"/>
            </a:endParaRPr>
          </a:p>
          <a:p>
            <a:pPr algn="l">
              <a:lnSpc>
                <a:spcPct val="104000"/>
              </a:lnSpc>
              <a:spcAft>
                <a:spcPts val="0"/>
              </a:spcAft>
              <a:defRPr sz="31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3100" b="1" i="0">
                <a:solidFill>
                  <a:srgbClr val="FFFFFF"/>
                </a:solidFill>
                <a:latin typeface="微软雅黑" panose="020B0503020204020204" charset="-122"/>
              </a:rPr>
              <a:t>企业工艺生成</a:t>
            </a:r>
            <a:endParaRPr sz="31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49808" y="3493008"/>
            <a:ext cx="658368" cy="50292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730752"/>
            <a:ext cx="6172200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  <a:defRPr sz="1050" b="0" i="0">
                <a:solidFill>
                  <a:srgbClr val="AFC4D2"/>
                </a:solidFill>
                <a:latin typeface="Aptos"/>
              </a:defRPr>
            </a:pPr>
            <a:r>
              <a:rPr sz="1050" b="0" i="0">
                <a:solidFill>
                  <a:srgbClr val="AFC4D2"/>
                </a:solidFill>
                <a:latin typeface="Aptos"/>
              </a:rPr>
              <a:t>Lightweight Enterprise Process Planning Generation</a:t>
            </a:r>
            <a:endParaRPr sz="1050" b="0" i="0">
              <a:solidFill>
                <a:srgbClr val="AFC4D2"/>
              </a:solidFill>
              <a:latin typeface="Aptos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  <a:defRPr sz="1050" b="0" i="0">
                <a:solidFill>
                  <a:srgbClr val="AFC4D2"/>
                </a:solidFill>
                <a:latin typeface="Aptos"/>
              </a:defRPr>
            </a:pPr>
            <a:r>
              <a:rPr sz="1050" b="0" i="0">
                <a:solidFill>
                  <a:srgbClr val="AFC4D2"/>
                </a:solidFill>
                <a:latin typeface="Aptos"/>
              </a:rPr>
              <a:t>Based on Retrieval-Augmented Generation</a:t>
            </a:r>
            <a:endParaRPr sz="1050" b="0" i="0">
              <a:solidFill>
                <a:srgbClr val="AFC4D2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49808" y="4590288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50" b="0" i="0">
                <a:solidFill>
                  <a:srgbClr val="D5E2EA"/>
                </a:solidFill>
                <a:latin typeface="微软雅黑" panose="020B0503020204020204" charset="-122"/>
              </a:defRPr>
            </a:pPr>
            <a:r>
              <a:rPr sz="1150" b="0" i="0">
                <a:solidFill>
                  <a:srgbClr val="D5E2EA"/>
                </a:solidFill>
                <a:latin typeface="微软雅黑" panose="020B0503020204020204" charset="-122"/>
              </a:rPr>
              <a:t>调研分析  ·  需求定义  ·  UML 概要设计  ·  评估方案</a:t>
            </a:r>
            <a:endParaRPr sz="1150" b="0" i="0">
              <a:solidFill>
                <a:srgbClr val="D5E2EA"/>
              </a:solidFill>
              <a:latin typeface="微软雅黑" panose="020B0503020204020204" charset="-122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749808" y="5760720"/>
            <a:ext cx="5879592" cy="0"/>
          </a:xfrm>
          <a:prstGeom prst="line">
            <a:avLst/>
          </a:prstGeom>
          <a:ln w="12700">
            <a:solidFill>
              <a:srgbClr val="365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49808" y="5961888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50" b="0" i="0">
                <a:solidFill>
                  <a:srgbClr val="AFC4D2"/>
                </a:solidFill>
                <a:latin typeface="微软雅黑" panose="020B0503020204020204" charset="-122"/>
              </a:defRPr>
            </a:pPr>
            <a:r>
              <a:rPr sz="1050" b="0" i="0">
                <a:solidFill>
                  <a:srgbClr val="AFC4D2"/>
                </a:solidFill>
                <a:latin typeface="微软雅黑" panose="020B0503020204020204" charset="-122"/>
              </a:rPr>
              <a:t>汇报人：待填写    指导教师：待填写</a:t>
            </a:r>
            <a:endParaRPr sz="1050" b="0" i="0">
              <a:solidFill>
                <a:srgbClr val="AFC4D2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332720" y="6080760"/>
            <a:ext cx="10515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1000" b="0" i="0">
                <a:solidFill>
                  <a:srgbClr val="8FAFC4"/>
                </a:solidFill>
                <a:latin typeface="Aptos"/>
              </a:defRPr>
            </a:pPr>
            <a:r>
              <a:rPr sz="1000" b="0" i="0">
                <a:solidFill>
                  <a:srgbClr val="8FAFC4"/>
                </a:solidFill>
                <a:latin typeface="Aptos"/>
              </a:rPr>
              <a:t>2026.10</a:t>
            </a:r>
            <a:endParaRPr sz="1000" b="0" i="0">
              <a:solidFill>
                <a:srgbClr val="8FAFC4"/>
              </a:solidFill>
              <a:latin typeface="Aptos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7635240" y="1124712"/>
            <a:ext cx="3566160" cy="3566160"/>
          </a:xfrm>
          <a:prstGeom prst="ellipse">
            <a:avLst/>
          </a:prstGeom>
          <a:solidFill>
            <a:srgbClr val="102A43"/>
          </a:solidFill>
          <a:ln w="13970">
            <a:solidFill>
              <a:srgbClr val="2A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19872" y="1609344"/>
            <a:ext cx="2596896" cy="2596896"/>
          </a:xfrm>
          <a:prstGeom prst="ellipse">
            <a:avLst/>
          </a:prstGeom>
          <a:solidFill>
            <a:srgbClr val="102A43"/>
          </a:solidFill>
          <a:ln w="13970">
            <a:solidFill>
              <a:srgbClr val="2A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84464" y="2212848"/>
            <a:ext cx="1115568" cy="576072"/>
          </a:xfrm>
          <a:prstGeom prst="line">
            <a:avLst/>
          </a:prstGeom>
          <a:ln w="17780">
            <a:solidFill>
              <a:srgbClr val="4B77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9985248" y="2121408"/>
            <a:ext cx="502920" cy="658368"/>
          </a:xfrm>
          <a:prstGeom prst="line">
            <a:avLst/>
          </a:prstGeom>
          <a:ln w="17780">
            <a:solidFill>
              <a:srgbClr val="4B77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418320" y="3584448"/>
            <a:ext cx="0" cy="457200"/>
          </a:xfrm>
          <a:prstGeom prst="line">
            <a:avLst/>
          </a:prstGeom>
          <a:ln w="17780">
            <a:solidFill>
              <a:srgbClr val="4B77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8741664" y="2212848"/>
            <a:ext cx="1353312" cy="1353312"/>
          </a:xfrm>
          <a:prstGeom prst="ellipse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41664" y="2212848"/>
            <a:ext cx="1353312" cy="13533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2500" b="1" i="0">
                <a:solidFill>
                  <a:srgbClr val="FFFFFF"/>
                </a:solidFill>
                <a:latin typeface="Aptos"/>
              </a:defRPr>
            </a:pPr>
            <a:r>
              <a:rPr sz="2500" b="1" i="0">
                <a:solidFill>
                  <a:srgbClr val="FFFFFF"/>
                </a:solidFill>
                <a:latin typeface="Aptos"/>
              </a:rPr>
              <a:t>RAG</a:t>
            </a:r>
            <a:endParaRPr sz="25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424927" y="1618488"/>
            <a:ext cx="1078992" cy="493776"/>
          </a:xfrm>
          <a:prstGeom prst="roundRect">
            <a:avLst>
              <a:gd name="adj" fmla="val 12000"/>
            </a:avLst>
          </a:prstGeom>
          <a:solidFill>
            <a:srgbClr val="163D5C"/>
          </a:solidFill>
          <a:ln w="10160">
            <a:solidFill>
              <a:srgbClr val="3B68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24927" y="1618488"/>
            <a:ext cx="1078992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2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 b="1" i="0">
                <a:solidFill>
                  <a:srgbClr val="FFFFFF"/>
                </a:solidFill>
                <a:latin typeface="微软雅黑" panose="020B0503020204020204" charset="-122"/>
              </a:rPr>
              <a:t>检索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10387584" y="1536192"/>
            <a:ext cx="1078992" cy="493776"/>
          </a:xfrm>
          <a:prstGeom prst="roundRect">
            <a:avLst>
              <a:gd name="adj" fmla="val 12000"/>
            </a:avLst>
          </a:prstGeom>
          <a:solidFill>
            <a:srgbClr val="163D5C"/>
          </a:solidFill>
          <a:ln w="10160">
            <a:solidFill>
              <a:srgbClr val="3B68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87584" y="1536192"/>
            <a:ext cx="1078992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2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 b="1" i="0">
                <a:solidFill>
                  <a:srgbClr val="FFFFFF"/>
                </a:solidFill>
                <a:latin typeface="微软雅黑" panose="020B0503020204020204" charset="-122"/>
              </a:rPr>
              <a:t>引用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8887968" y="3977639"/>
            <a:ext cx="1078992" cy="493776"/>
          </a:xfrm>
          <a:prstGeom prst="roundRect">
            <a:avLst>
              <a:gd name="adj" fmla="val 12000"/>
            </a:avLst>
          </a:prstGeom>
          <a:solidFill>
            <a:srgbClr val="163D5C"/>
          </a:solidFill>
          <a:ln w="10160">
            <a:solidFill>
              <a:srgbClr val="3B68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3977639"/>
            <a:ext cx="1078992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2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 b="1" i="0">
                <a:solidFill>
                  <a:srgbClr val="FFFFFF"/>
                </a:solidFill>
                <a:latin typeface="微软雅黑" panose="020B0503020204020204" charset="-122"/>
              </a:rPr>
              <a:t>生成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452360" y="4983480"/>
            <a:ext cx="37947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77C8C0"/>
                </a:solidFill>
                <a:latin typeface="Aptos"/>
              </a:defRPr>
            </a:pPr>
            <a:r>
              <a:rPr sz="850" b="0" i="0">
                <a:solidFill>
                  <a:srgbClr val="77C8C0"/>
                </a:solidFill>
                <a:latin typeface="Aptos"/>
              </a:rPr>
              <a:t>RETRIEVE  ·  GROUND  ·  GENERATE</a:t>
            </a:r>
            <a:endParaRPr sz="850" b="0" i="0">
              <a:solidFill>
                <a:srgbClr val="77C8C0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56032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01  /  研究背景与意义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21792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23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2300" b="1" i="0">
                <a:solidFill>
                  <a:srgbClr val="102A43"/>
                </a:solidFill>
                <a:latin typeface="微软雅黑" panose="020B0503020204020204" charset="-122"/>
              </a:rPr>
              <a:t>工艺知识“可查”，更要“可核查”</a:t>
            </a:r>
            <a:endParaRPr sz="23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49640" y="274320"/>
            <a:ext cx="303580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USTC  /  ENGINEERING PRACTICE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197864"/>
            <a:ext cx="11000232" cy="0"/>
          </a:xfrm>
          <a:prstGeom prst="line">
            <a:avLst/>
          </a:prstGeom>
          <a:ln w="1270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1016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4360" y="6547104"/>
            <a:ext cx="1692343" cy="0"/>
          </a:xfrm>
          <a:prstGeom prst="line">
            <a:avLst/>
          </a:prstGeom>
          <a:ln w="27940">
            <a:solidFill>
              <a:srgbClr val="0E9F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6318504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8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800" b="0" i="0">
                <a:solidFill>
                  <a:srgbClr val="62788A"/>
                </a:solidFill>
                <a:latin typeface="微软雅黑" panose="020B0503020204020204" charset="-122"/>
              </a:rPr>
              <a:t>基于 RAG 的轻量级企业工艺生成</a:t>
            </a:r>
            <a:endParaRPr sz="8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0216"/>
            <a:ext cx="94183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02  /  13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94360" y="1481328"/>
            <a:ext cx="3493008" cy="19933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1481328"/>
            <a:ext cx="3493008" cy="64008"/>
          </a:xfrm>
          <a:prstGeom prst="rect">
            <a:avLst/>
          </a:prstGeom>
          <a:solidFill>
            <a:srgbClr val="216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1773936"/>
            <a:ext cx="438912" cy="438912"/>
          </a:xfrm>
          <a:prstGeom prst="ellipse">
            <a:avLst/>
          </a:prstGeom>
          <a:solidFill>
            <a:srgbClr val="EA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773936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2166A5"/>
                </a:solidFill>
                <a:latin typeface="Aptos"/>
              </a:defRPr>
            </a:pPr>
            <a:r>
              <a:rPr sz="1000" b="1" i="0">
                <a:solidFill>
                  <a:srgbClr val="2166A5"/>
                </a:solidFill>
                <a:latin typeface="Aptos"/>
              </a:rPr>
              <a:t>01</a:t>
            </a:r>
            <a:endParaRPr sz="1000" b="1" i="0">
              <a:solidFill>
                <a:srgbClr val="2166A5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399032" y="1773936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7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700" b="1" i="0">
                <a:solidFill>
                  <a:srgbClr val="102A43"/>
                </a:solidFill>
                <a:latin typeface="微软雅黑" panose="020B0503020204020204" charset="-122"/>
              </a:rPr>
              <a:t>资料分散</a:t>
            </a:r>
            <a:endParaRPr sz="17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2960" y="2404872"/>
            <a:ext cx="3035808" cy="7680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  <a:defRPr sz="103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30" b="0" i="0">
                <a:solidFill>
                  <a:srgbClr val="62788A"/>
                </a:solidFill>
                <a:latin typeface="微软雅黑" panose="020B0503020204020204" charset="-122"/>
              </a:rPr>
              <a:t>工艺规程、作业指导书与设备资料多以 PDF 保存</a:t>
            </a:r>
            <a:endParaRPr sz="1030" b="0" i="0">
              <a:solidFill>
                <a:srgbClr val="62788A"/>
              </a:solidFill>
              <a:latin typeface="微软雅黑" panose="020B0503020204020204" charset="-122"/>
            </a:endParaRPr>
          </a:p>
          <a:p>
            <a:pPr algn="l">
              <a:lnSpc>
                <a:spcPct val="132000"/>
              </a:lnSpc>
              <a:spcAft>
                <a:spcPts val="0"/>
              </a:spcAft>
              <a:defRPr sz="103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30" b="0" i="0">
                <a:solidFill>
                  <a:srgbClr val="62788A"/>
                </a:solidFill>
                <a:latin typeface="微软雅黑" panose="020B0503020204020204" charset="-122"/>
              </a:rPr>
              <a:t>人工跨文档查找效率低</a:t>
            </a:r>
            <a:endParaRPr sz="103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4343400" y="1481328"/>
            <a:ext cx="3493008" cy="19933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481328"/>
            <a:ext cx="3493008" cy="64008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72000" y="1773936"/>
            <a:ext cx="438912" cy="438912"/>
          </a:xfrm>
          <a:prstGeom prst="ellipse">
            <a:avLst/>
          </a:prstGeom>
          <a:solidFill>
            <a:srgbClr val="E5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1773936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0E9F9A"/>
                </a:solidFill>
                <a:latin typeface="Aptos"/>
              </a:defRPr>
            </a:pPr>
            <a:r>
              <a:rPr sz="1000" b="1" i="0">
                <a:solidFill>
                  <a:srgbClr val="0E9F9A"/>
                </a:solidFill>
                <a:latin typeface="Aptos"/>
              </a:rPr>
              <a:t>02</a:t>
            </a:r>
            <a:endParaRPr sz="1000" b="1" i="0">
              <a:solidFill>
                <a:srgbClr val="0E9F9A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148072" y="1773936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7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700" b="1" i="0">
                <a:solidFill>
                  <a:srgbClr val="102A43"/>
                </a:solidFill>
                <a:latin typeface="微软雅黑" panose="020B0503020204020204" charset="-122"/>
              </a:rPr>
              <a:t>知识难复用</a:t>
            </a:r>
            <a:endParaRPr sz="17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572000" y="2404872"/>
            <a:ext cx="3035808" cy="7680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  <a:defRPr sz="103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30" b="0" i="0">
                <a:solidFill>
                  <a:srgbClr val="62788A"/>
                </a:solidFill>
                <a:latin typeface="微软雅黑" panose="020B0503020204020204" charset="-122"/>
              </a:rPr>
              <a:t>加工方法、设备、参数、测量及质量要求相互关联</a:t>
            </a:r>
            <a:endParaRPr sz="1030" b="0" i="0">
              <a:solidFill>
                <a:srgbClr val="62788A"/>
              </a:solidFill>
              <a:latin typeface="微软雅黑" panose="020B0503020204020204" charset="-122"/>
            </a:endParaRPr>
          </a:p>
          <a:p>
            <a:pPr algn="l">
              <a:lnSpc>
                <a:spcPct val="132000"/>
              </a:lnSpc>
              <a:spcAft>
                <a:spcPts val="0"/>
              </a:spcAft>
              <a:defRPr sz="103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30" b="0" i="0">
                <a:solidFill>
                  <a:srgbClr val="62788A"/>
                </a:solidFill>
                <a:latin typeface="微软雅黑" panose="020B0503020204020204" charset="-122"/>
              </a:rPr>
              <a:t>经验依赖个人理解</a:t>
            </a:r>
            <a:endParaRPr sz="103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8092440" y="1481328"/>
            <a:ext cx="3493008" cy="19933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2440" y="1481328"/>
            <a:ext cx="3493008" cy="64008"/>
          </a:xfrm>
          <a:prstGeom prst="rect">
            <a:avLst/>
          </a:prstGeom>
          <a:solidFill>
            <a:srgbClr val="E9A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21040" y="1773936"/>
            <a:ext cx="438912" cy="438912"/>
          </a:xfrm>
          <a:prstGeom prst="ellipse">
            <a:avLst/>
          </a:prstGeom>
          <a:solidFill>
            <a:srgbClr val="FFF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1773936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E9A23B"/>
                </a:solidFill>
                <a:latin typeface="Aptos"/>
              </a:defRPr>
            </a:pPr>
            <a:r>
              <a:rPr sz="1000" b="1" i="0">
                <a:solidFill>
                  <a:srgbClr val="E9A23B"/>
                </a:solidFill>
                <a:latin typeface="Aptos"/>
              </a:rPr>
              <a:t>03</a:t>
            </a:r>
            <a:endParaRPr sz="1000" b="1" i="0">
              <a:solidFill>
                <a:srgbClr val="E9A23B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897112" y="1773936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7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700" b="1" i="0">
                <a:solidFill>
                  <a:srgbClr val="102A43"/>
                </a:solidFill>
                <a:latin typeface="微软雅黑" panose="020B0503020204020204" charset="-122"/>
              </a:rPr>
              <a:t>答案难追溯</a:t>
            </a:r>
            <a:endParaRPr sz="17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321040" y="2404872"/>
            <a:ext cx="3035808" cy="7680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  <a:defRPr sz="103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30" b="0" i="0">
                <a:solidFill>
                  <a:srgbClr val="62788A"/>
                </a:solidFill>
                <a:latin typeface="微软雅黑" panose="020B0503020204020204" charset="-122"/>
              </a:rPr>
              <a:t>通用大模型不掌握企业内部知识</a:t>
            </a:r>
            <a:endParaRPr sz="1030" b="0" i="0">
              <a:solidFill>
                <a:srgbClr val="62788A"/>
              </a:solidFill>
              <a:latin typeface="微软雅黑" panose="020B0503020204020204" charset="-122"/>
            </a:endParaRPr>
          </a:p>
          <a:p>
            <a:pPr algn="l">
              <a:lnSpc>
                <a:spcPct val="132000"/>
              </a:lnSpc>
              <a:spcAft>
                <a:spcPts val="0"/>
              </a:spcAft>
              <a:defRPr sz="103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30" b="0" i="0">
                <a:solidFill>
                  <a:srgbClr val="62788A"/>
                </a:solidFill>
                <a:latin typeface="微软雅黑" panose="020B0503020204020204" charset="-122"/>
              </a:rPr>
              <a:t>可能生成无依据参数或来源</a:t>
            </a:r>
            <a:endParaRPr sz="103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94360" y="3749039"/>
            <a:ext cx="11000232" cy="1115568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59536" y="3977639"/>
            <a:ext cx="960120" cy="310896"/>
          </a:xfrm>
          <a:prstGeom prst="roundRect">
            <a:avLst>
              <a:gd name="adj" fmla="val 12000"/>
            </a:avLst>
          </a:prstGeom>
          <a:solidFill>
            <a:srgbClr val="16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3977639"/>
            <a:ext cx="9601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91DDD5"/>
                </a:solidFill>
                <a:latin typeface="微软雅黑" panose="020B0503020204020204" charset="-122"/>
              </a:defRPr>
            </a:pPr>
            <a:r>
              <a:rPr sz="1000" b="1" i="0">
                <a:solidFill>
                  <a:srgbClr val="91DDD5"/>
                </a:solidFill>
                <a:latin typeface="微软雅黑" panose="020B0503020204020204" charset="-122"/>
              </a:rPr>
              <a:t>工程目标</a:t>
            </a:r>
            <a:endParaRPr sz="1000" b="1" i="0">
              <a:solidFill>
                <a:srgbClr val="91DDD5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029968" y="3922776"/>
            <a:ext cx="9125712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9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900" b="1" i="0">
                <a:solidFill>
                  <a:srgbClr val="FFFFFF"/>
                </a:solidFill>
                <a:latin typeface="微软雅黑" panose="020B0503020204020204" charset="-122"/>
              </a:rPr>
              <a:t>让企业文档成为可检索、可引用、可持续维护的工艺知识服务</a:t>
            </a:r>
            <a:endParaRPr sz="19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594360" y="5093208"/>
            <a:ext cx="11000232" cy="621792"/>
          </a:xfrm>
          <a:prstGeom prst="roundRect">
            <a:avLst>
              <a:gd name="adj" fmla="val 12000"/>
            </a:avLst>
          </a:prstGeom>
          <a:solidFill>
            <a:srgbClr val="FFF5E5"/>
          </a:solidFill>
          <a:ln w="10160">
            <a:solidFill>
              <a:srgbClr val="F3D9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" y="5266944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50" b="1" i="0">
                <a:solidFill>
                  <a:srgbClr val="A46A16"/>
                </a:solidFill>
                <a:latin typeface="微软雅黑" panose="020B0503020204020204" charset="-122"/>
              </a:defRPr>
            </a:pPr>
            <a:r>
              <a:rPr sz="1050" b="1" i="0">
                <a:solidFill>
                  <a:srgbClr val="A46A16"/>
                </a:solidFill>
                <a:latin typeface="微软雅黑" panose="020B0503020204020204" charset="-122"/>
              </a:rPr>
              <a:t>应用边界</a:t>
            </a:r>
            <a:endParaRPr sz="1050" b="1" i="0">
              <a:solidFill>
                <a:srgbClr val="A46A16"/>
              </a:solidFill>
              <a:latin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810512" y="5230368"/>
            <a:ext cx="932688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200" b="0" i="0">
                <a:solidFill>
                  <a:srgbClr val="765321"/>
                </a:solidFill>
                <a:latin typeface="微软雅黑" panose="020B0503020204020204" charset="-122"/>
              </a:defRPr>
            </a:pPr>
            <a:r>
              <a:rPr sz="1200" b="0" i="0">
                <a:solidFill>
                  <a:srgbClr val="765321"/>
                </a:solidFill>
                <a:latin typeface="微软雅黑" panose="020B0503020204020204" charset="-122"/>
              </a:rPr>
              <a:t>输出为 AI 辅助草案，须经工艺人员审核，不直接控制机床。</a:t>
            </a:r>
            <a:endParaRPr sz="1200" b="0" i="0">
              <a:solidFill>
                <a:srgbClr val="765321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56032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02  /  国内外相关技术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21792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23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2300" b="1" i="0">
                <a:solidFill>
                  <a:srgbClr val="102A43"/>
                </a:solidFill>
                <a:latin typeface="微软雅黑" panose="020B0503020204020204" charset="-122"/>
              </a:rPr>
              <a:t>完整 RAG 链路，优于单点模型接入</a:t>
            </a:r>
            <a:endParaRPr sz="23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49640" y="274320"/>
            <a:ext cx="303580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USTC  /  ENGINEERING PRACTICE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197864"/>
            <a:ext cx="11000232" cy="0"/>
          </a:xfrm>
          <a:prstGeom prst="line">
            <a:avLst/>
          </a:prstGeom>
          <a:ln w="1270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1016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4360" y="6547104"/>
            <a:ext cx="2538515" cy="0"/>
          </a:xfrm>
          <a:prstGeom prst="line">
            <a:avLst/>
          </a:prstGeom>
          <a:ln w="27940">
            <a:solidFill>
              <a:srgbClr val="0E9F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6318504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8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800" b="0" i="0">
                <a:solidFill>
                  <a:srgbClr val="62788A"/>
                </a:solidFill>
                <a:latin typeface="微软雅黑" panose="020B0503020204020204" charset="-122"/>
              </a:rPr>
              <a:t>基于 RAG 的轻量级企业工艺生成</a:t>
            </a:r>
            <a:endParaRPr sz="8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0216"/>
            <a:ext cx="94183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03  /  13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1188720" y="1773936"/>
            <a:ext cx="9784080" cy="0"/>
          </a:xfrm>
          <a:prstGeom prst="line">
            <a:avLst/>
          </a:prstGeom>
          <a:ln w="19050">
            <a:solidFill>
              <a:srgbClr val="B9CB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728216" y="1636776"/>
            <a:ext cx="274320" cy="274320"/>
          </a:xfrm>
          <a:prstGeom prst="ellipse">
            <a:avLst/>
          </a:prstGeom>
          <a:solidFill>
            <a:srgbClr val="2166A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084831"/>
            <a:ext cx="2542032" cy="1536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2267712"/>
            <a:ext cx="6766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00" b="1" i="0">
                <a:solidFill>
                  <a:srgbClr val="2166A5"/>
                </a:solidFill>
                <a:latin typeface="Aptos"/>
              </a:defRPr>
            </a:pPr>
            <a:r>
              <a:rPr sz="1100" b="1" i="0">
                <a:solidFill>
                  <a:srgbClr val="2166A5"/>
                </a:solidFill>
                <a:latin typeface="Aptos"/>
              </a:rPr>
              <a:t>2009</a:t>
            </a:r>
            <a:endParaRPr sz="1100" b="1" i="0">
              <a:solidFill>
                <a:srgbClr val="2166A5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95528" y="2578608"/>
            <a:ext cx="213969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50" b="1" i="0">
                <a:solidFill>
                  <a:srgbClr val="102A43"/>
                </a:solidFill>
                <a:latin typeface="微软雅黑" panose="020B0503020204020204" charset="-122"/>
              </a:rPr>
              <a:t>BM25 / RRF</a:t>
            </a:r>
            <a:endParaRPr sz="15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95528" y="2999232"/>
            <a:ext cx="2139696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词法相关性基线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排名融合避免异构分数比较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517136" y="1636776"/>
            <a:ext cx="274320" cy="274320"/>
          </a:xfrm>
          <a:prstGeom prst="ellipse">
            <a:avLst/>
          </a:prstGeom>
          <a:solidFill>
            <a:srgbClr val="0E9F9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83279" y="2084831"/>
            <a:ext cx="2542032" cy="1536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84448" y="2267712"/>
            <a:ext cx="6766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00" b="1" i="0">
                <a:solidFill>
                  <a:srgbClr val="0E9F9A"/>
                </a:solidFill>
                <a:latin typeface="Aptos"/>
              </a:defRPr>
            </a:pPr>
            <a:r>
              <a:rPr sz="1100" b="1" i="0">
                <a:solidFill>
                  <a:srgbClr val="0E9F9A"/>
                </a:solidFill>
                <a:latin typeface="Aptos"/>
              </a:rPr>
              <a:t>2020</a:t>
            </a:r>
            <a:endParaRPr sz="1100" b="1" i="0">
              <a:solidFill>
                <a:srgbClr val="0E9F9A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584448" y="2578608"/>
            <a:ext cx="213969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50" b="1" i="0">
                <a:solidFill>
                  <a:srgbClr val="102A43"/>
                </a:solidFill>
                <a:latin typeface="微软雅黑" panose="020B0503020204020204" charset="-122"/>
              </a:rPr>
              <a:t>DPR / RAG</a:t>
            </a:r>
            <a:endParaRPr sz="15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584448" y="2999232"/>
            <a:ext cx="2139696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语义向量召回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参数化模型结合外部知识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7306056" y="1636776"/>
            <a:ext cx="274320" cy="274320"/>
          </a:xfrm>
          <a:prstGeom prst="ellipse">
            <a:avLst/>
          </a:prstGeom>
          <a:solidFill>
            <a:srgbClr val="2166A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172200" y="2084831"/>
            <a:ext cx="2542032" cy="1536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3368" y="2267712"/>
            <a:ext cx="6766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00" b="1" i="0">
                <a:solidFill>
                  <a:srgbClr val="2166A5"/>
                </a:solidFill>
                <a:latin typeface="Aptos"/>
              </a:defRPr>
            </a:pPr>
            <a:r>
              <a:rPr sz="1100" b="1" i="0">
                <a:solidFill>
                  <a:srgbClr val="2166A5"/>
                </a:solidFill>
                <a:latin typeface="Aptos"/>
              </a:rPr>
              <a:t>2023</a:t>
            </a:r>
            <a:endParaRPr sz="1100" b="1" i="0">
              <a:solidFill>
                <a:srgbClr val="2166A5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373368" y="2578608"/>
            <a:ext cx="213969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50" b="1" i="0">
                <a:solidFill>
                  <a:srgbClr val="102A43"/>
                </a:solidFill>
                <a:latin typeface="微软雅黑" panose="020B0503020204020204" charset="-122"/>
              </a:rPr>
              <a:t>模块化 RAG</a:t>
            </a:r>
            <a:endParaRPr sz="15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373368" y="2999232"/>
            <a:ext cx="2139696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检索、生成与评估协同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从拼接走向受控编排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28" name="Oval 27"/>
          <p:cNvSpPr/>
          <p:nvPr/>
        </p:nvSpPr>
        <p:spPr>
          <a:xfrm>
            <a:off x="10094976" y="1636776"/>
            <a:ext cx="274320" cy="274320"/>
          </a:xfrm>
          <a:prstGeom prst="ellipse">
            <a:avLst/>
          </a:prstGeom>
          <a:solidFill>
            <a:srgbClr val="0E9F9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61119" y="2084831"/>
            <a:ext cx="2542032" cy="1536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2267712"/>
            <a:ext cx="6766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00" b="1" i="0">
                <a:solidFill>
                  <a:srgbClr val="0E9F9A"/>
                </a:solidFill>
                <a:latin typeface="Aptos"/>
              </a:defRPr>
            </a:pPr>
            <a:r>
              <a:rPr sz="1100" b="1" i="0">
                <a:solidFill>
                  <a:srgbClr val="0E9F9A"/>
                </a:solidFill>
                <a:latin typeface="Aptos"/>
              </a:rPr>
              <a:t>2024</a:t>
            </a:r>
            <a:endParaRPr sz="1100" b="1" i="0">
              <a:solidFill>
                <a:srgbClr val="0E9F9A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162288" y="2578608"/>
            <a:ext cx="213969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50" b="1" i="0">
                <a:solidFill>
                  <a:srgbClr val="102A43"/>
                </a:solidFill>
                <a:latin typeface="微软雅黑" panose="020B0503020204020204" charset="-122"/>
              </a:rPr>
              <a:t>多语嵌入</a:t>
            </a:r>
            <a:endParaRPr sz="15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162288" y="2999232"/>
            <a:ext cx="2139696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多语、多粒度知识表示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支持中英文资料处理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94360" y="3913632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00" b="1" i="0">
                <a:solidFill>
                  <a:srgbClr val="102A43"/>
                </a:solidFill>
                <a:latin typeface="微软雅黑" panose="020B0503020204020204" charset="-122"/>
              </a:rPr>
              <a:t>本项目切入点</a:t>
            </a:r>
            <a:endParaRPr sz="15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028431" y="3959352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9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900" b="0" i="0">
                <a:solidFill>
                  <a:srgbClr val="62788A"/>
                </a:solidFill>
                <a:latin typeface="微软雅黑" panose="020B0503020204020204" charset="-122"/>
              </a:rPr>
              <a:t>调研来源：[1]–[8]，详见开题报告</a:t>
            </a:r>
            <a:endParaRPr sz="9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594360" y="4407408"/>
            <a:ext cx="1207008" cy="329184"/>
          </a:xfrm>
          <a:prstGeom prst="roundRect">
            <a:avLst>
              <a:gd name="adj" fmla="val 12000"/>
            </a:avLst>
          </a:prstGeom>
          <a:solidFill>
            <a:srgbClr val="E5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4407408"/>
            <a:ext cx="1207008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1000" b="1" i="0">
                <a:solidFill>
                  <a:srgbClr val="087F7B"/>
                </a:solidFill>
                <a:latin typeface="微软雅黑" panose="020B0503020204020204" charset="-122"/>
              </a:rPr>
              <a:t>双路召回</a:t>
            </a:r>
            <a:endParaRPr sz="100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011680" y="4416552"/>
            <a:ext cx="804672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20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200" b="0" i="0">
                <a:solidFill>
                  <a:srgbClr val="18324A"/>
                </a:solidFill>
                <a:latin typeface="微软雅黑" panose="020B0503020204020204" charset="-122"/>
              </a:rPr>
              <a:t>语义匹配 + 术语型号精确匹配</a:t>
            </a:r>
            <a:endParaRPr sz="120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cxnSp>
        <p:nvCxnSpPr>
          <p:cNvPr id="38" name="Connector 37"/>
          <p:cNvCxnSpPr/>
          <p:nvPr/>
        </p:nvCxnSpPr>
        <p:spPr>
          <a:xfrm>
            <a:off x="2011680" y="4828032"/>
            <a:ext cx="9582912" cy="0"/>
          </a:xfrm>
          <a:prstGeom prst="line">
            <a:avLst/>
          </a:prstGeom>
          <a:ln w="889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594360" y="4910328"/>
            <a:ext cx="1207008" cy="329184"/>
          </a:xfrm>
          <a:prstGeom prst="roundRect">
            <a:avLst>
              <a:gd name="adj" fmla="val 12000"/>
            </a:avLst>
          </a:prstGeom>
          <a:solidFill>
            <a:srgbClr val="EA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4910328"/>
            <a:ext cx="1207008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2166A5"/>
                </a:solidFill>
                <a:latin typeface="微软雅黑" panose="020B0503020204020204" charset="-122"/>
              </a:defRPr>
            </a:pPr>
            <a:r>
              <a:rPr sz="1000" b="1" i="0">
                <a:solidFill>
                  <a:srgbClr val="2166A5"/>
                </a:solidFill>
                <a:latin typeface="微软雅黑" panose="020B0503020204020204" charset="-122"/>
              </a:rPr>
              <a:t>候选精炼</a:t>
            </a:r>
            <a:endParaRPr sz="1000" b="1" i="0">
              <a:solidFill>
                <a:srgbClr val="2166A5"/>
              </a:solidFill>
              <a:latin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011680" y="4919472"/>
            <a:ext cx="804672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20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200" b="0" i="0">
                <a:solidFill>
                  <a:srgbClr val="18324A"/>
                </a:solidFill>
                <a:latin typeface="微软雅黑" panose="020B0503020204020204" charset="-122"/>
              </a:rPr>
              <a:t>RRF 融合 + 重排序 + 上下文预算</a:t>
            </a:r>
            <a:endParaRPr sz="120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cxnSp>
        <p:nvCxnSpPr>
          <p:cNvPr id="42" name="Connector 41"/>
          <p:cNvCxnSpPr/>
          <p:nvPr/>
        </p:nvCxnSpPr>
        <p:spPr>
          <a:xfrm>
            <a:off x="2011680" y="5330952"/>
            <a:ext cx="9582912" cy="0"/>
          </a:xfrm>
          <a:prstGeom prst="line">
            <a:avLst/>
          </a:prstGeom>
          <a:ln w="889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594360" y="5413248"/>
            <a:ext cx="1207008" cy="329184"/>
          </a:xfrm>
          <a:prstGeom prst="roundRect">
            <a:avLst>
              <a:gd name="adj" fmla="val 12000"/>
            </a:avLst>
          </a:prstGeom>
          <a:solidFill>
            <a:srgbClr val="E5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" y="5413248"/>
            <a:ext cx="1207008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1000" b="1" i="0">
                <a:solidFill>
                  <a:srgbClr val="087F7B"/>
                </a:solidFill>
                <a:latin typeface="微软雅黑" panose="020B0503020204020204" charset="-122"/>
              </a:rPr>
              <a:t>可信输出</a:t>
            </a:r>
            <a:endParaRPr sz="100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011680" y="5422392"/>
            <a:ext cx="804672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20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200" b="0" i="0">
                <a:solidFill>
                  <a:srgbClr val="18324A"/>
                </a:solidFill>
                <a:latin typeface="微软雅黑" panose="020B0503020204020204" charset="-122"/>
              </a:rPr>
              <a:t>引用白名单 + 引用快照 + 证据不足拒答</a:t>
            </a:r>
            <a:endParaRPr sz="120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56032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03  /  研究目标与范围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21792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23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2300" b="1" i="0">
                <a:solidFill>
                  <a:srgbClr val="102A43"/>
                </a:solidFill>
                <a:latin typeface="微软雅黑" panose="020B0503020204020204" charset="-122"/>
              </a:rPr>
              <a:t>轻量部署、完整闭环、人机协同</a:t>
            </a:r>
            <a:endParaRPr sz="23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49640" y="274320"/>
            <a:ext cx="303580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USTC  /  ENGINEERING PRACTICE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197864"/>
            <a:ext cx="11000232" cy="0"/>
          </a:xfrm>
          <a:prstGeom prst="line">
            <a:avLst/>
          </a:prstGeom>
          <a:ln w="1270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1016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4360" y="6547104"/>
            <a:ext cx="3384686" cy="0"/>
          </a:xfrm>
          <a:prstGeom prst="line">
            <a:avLst/>
          </a:prstGeom>
          <a:ln w="27940">
            <a:solidFill>
              <a:srgbClr val="0E9F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6318504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8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800" b="0" i="0">
                <a:solidFill>
                  <a:srgbClr val="62788A"/>
                </a:solidFill>
                <a:latin typeface="微软雅黑" panose="020B0503020204020204" charset="-122"/>
              </a:rPr>
              <a:t>基于 RAG 的轻量级企业工艺生成</a:t>
            </a:r>
            <a:endParaRPr sz="8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0216"/>
            <a:ext cx="94183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04  /  13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1408176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6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600" b="1" i="0">
                <a:solidFill>
                  <a:srgbClr val="102A43"/>
                </a:solidFill>
                <a:latin typeface="微软雅黑" panose="020B0503020204020204" charset="-122"/>
              </a:rPr>
              <a:t>本期实现</a:t>
            </a:r>
            <a:endParaRPr sz="16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553712" y="1417320"/>
            <a:ext cx="1508760" cy="292608"/>
          </a:xfrm>
          <a:prstGeom prst="roundRect">
            <a:avLst>
              <a:gd name="adj" fmla="val 12000"/>
            </a:avLst>
          </a:prstGeom>
          <a:solidFill>
            <a:srgbClr val="EA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1417320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2166A5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2166A5"/>
                </a:solidFill>
                <a:latin typeface="微软雅黑" panose="020B0503020204020204" charset="-122"/>
              </a:rPr>
              <a:t>5 项核心能力</a:t>
            </a:r>
            <a:endParaRPr sz="950" b="1" i="0">
              <a:solidFill>
                <a:srgbClr val="2166A5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94360" y="1847088"/>
            <a:ext cx="551383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6384" y="1947672"/>
            <a:ext cx="356616" cy="356616"/>
          </a:xfrm>
          <a:prstGeom prst="ellipse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1947672"/>
            <a:ext cx="356616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FFFFFF"/>
                </a:solidFill>
                <a:latin typeface="Aptos"/>
              </a:defRPr>
            </a:pPr>
            <a:r>
              <a:rPr sz="1000" b="1" i="0">
                <a:solidFill>
                  <a:srgbClr val="FFFFFF"/>
                </a:solidFill>
                <a:latin typeface="Aptos"/>
              </a:rPr>
              <a:t>1</a:t>
            </a:r>
            <a:endParaRPr sz="10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307592" y="1920240"/>
            <a:ext cx="4553712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5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50" b="0" i="0">
                <a:solidFill>
                  <a:srgbClr val="18324A"/>
                </a:solidFill>
                <a:latin typeface="微软雅黑" panose="020B0503020204020204" charset="-122"/>
              </a:rPr>
              <a:t>文本型 PDF 上传、页级解析、分块和版本化索引</a:t>
            </a:r>
            <a:endParaRPr sz="115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94360" y="2569464"/>
            <a:ext cx="551383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86384" y="2670048"/>
            <a:ext cx="356616" cy="356616"/>
          </a:xfrm>
          <a:prstGeom prst="ellipse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2670048"/>
            <a:ext cx="356616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FFFFFF"/>
                </a:solidFill>
                <a:latin typeface="Aptos"/>
              </a:defRPr>
            </a:pPr>
            <a:r>
              <a:rPr sz="1000" b="1" i="0">
                <a:solidFill>
                  <a:srgbClr val="FFFFFF"/>
                </a:solidFill>
                <a:latin typeface="Aptos"/>
              </a:rPr>
              <a:t>2</a:t>
            </a:r>
            <a:endParaRPr sz="10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307592" y="2642616"/>
            <a:ext cx="4553712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5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50" b="0" i="0">
                <a:solidFill>
                  <a:srgbClr val="18324A"/>
                </a:solidFill>
                <a:latin typeface="微软雅黑" panose="020B0503020204020204" charset="-122"/>
              </a:rPr>
              <a:t>稠密向量 + BM25 + RRF + 重排序</a:t>
            </a:r>
            <a:endParaRPr sz="115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594360" y="3291840"/>
            <a:ext cx="551383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86384" y="3392424"/>
            <a:ext cx="356616" cy="356616"/>
          </a:xfrm>
          <a:prstGeom prst="ellipse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3392424"/>
            <a:ext cx="356616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FFFFFF"/>
                </a:solidFill>
                <a:latin typeface="Aptos"/>
              </a:defRPr>
            </a:pPr>
            <a:r>
              <a:rPr sz="1000" b="1" i="0">
                <a:solidFill>
                  <a:srgbClr val="FFFFFF"/>
                </a:solidFill>
                <a:latin typeface="Aptos"/>
              </a:rPr>
              <a:t>3</a:t>
            </a:r>
            <a:endParaRPr sz="10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307592" y="3364992"/>
            <a:ext cx="4553712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5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50" b="0" i="0">
                <a:solidFill>
                  <a:srgbClr val="18324A"/>
                </a:solidFill>
                <a:latin typeface="微软雅黑" panose="020B0503020204020204" charset="-122"/>
              </a:rPr>
              <a:t>知识问答与结构化加工指令草案</a:t>
            </a:r>
            <a:endParaRPr sz="115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94360" y="4014216"/>
            <a:ext cx="551383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86384" y="4114800"/>
            <a:ext cx="356616" cy="356616"/>
          </a:xfrm>
          <a:prstGeom prst="ellipse">
            <a:avLst/>
          </a:prstGeom>
          <a:solidFill>
            <a:srgbClr val="216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384" y="4114800"/>
            <a:ext cx="356616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FFFFFF"/>
                </a:solidFill>
                <a:latin typeface="Aptos"/>
              </a:defRPr>
            </a:pPr>
            <a:r>
              <a:rPr sz="1000" b="1" i="0">
                <a:solidFill>
                  <a:srgbClr val="FFFFFF"/>
                </a:solidFill>
                <a:latin typeface="Aptos"/>
              </a:rPr>
              <a:t>4</a:t>
            </a:r>
            <a:endParaRPr sz="10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307592" y="4087368"/>
            <a:ext cx="4553712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5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50" b="0" i="0">
                <a:solidFill>
                  <a:srgbClr val="18324A"/>
                </a:solidFill>
                <a:latin typeface="微软雅黑" panose="020B0503020204020204" charset="-122"/>
              </a:rPr>
              <a:t>多轮改写、引用定位、历史隔离</a:t>
            </a:r>
            <a:endParaRPr sz="115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94360" y="4736592"/>
            <a:ext cx="551383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86384" y="4837176"/>
            <a:ext cx="356616" cy="356616"/>
          </a:xfrm>
          <a:prstGeom prst="ellipse">
            <a:avLst/>
          </a:prstGeom>
          <a:solidFill>
            <a:srgbClr val="216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4837176"/>
            <a:ext cx="356616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FFFFFF"/>
                </a:solidFill>
                <a:latin typeface="Aptos"/>
              </a:defRPr>
            </a:pPr>
            <a:r>
              <a:rPr sz="1000" b="1" i="0">
                <a:solidFill>
                  <a:srgbClr val="FFFFFF"/>
                </a:solidFill>
                <a:latin typeface="Aptos"/>
              </a:rPr>
              <a:t>5</a:t>
            </a:r>
            <a:endParaRPr sz="10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307592" y="4809744"/>
            <a:ext cx="4553712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5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50" b="0" i="0">
                <a:solidFill>
                  <a:srgbClr val="18324A"/>
                </a:solidFill>
                <a:latin typeface="微软雅黑" panose="020B0503020204020204" charset="-122"/>
              </a:rPr>
              <a:t>固定测试集、人工评分和结果导出</a:t>
            </a:r>
            <a:endParaRPr sz="115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6382512" y="1417320"/>
            <a:ext cx="5212080" cy="4526280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675120" y="1709928"/>
            <a:ext cx="1481328" cy="274320"/>
          </a:xfrm>
          <a:prstGeom prst="roundRect">
            <a:avLst>
              <a:gd name="adj" fmla="val 12000"/>
            </a:avLst>
          </a:prstGeom>
          <a:solidFill>
            <a:srgbClr val="16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170992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850" b="1" i="0">
                <a:solidFill>
                  <a:srgbClr val="91DDD5"/>
                </a:solidFill>
                <a:latin typeface="微软雅黑" panose="020B0503020204020204" charset="-122"/>
              </a:defRPr>
            </a:pPr>
            <a:r>
              <a:rPr sz="850" b="1" i="0">
                <a:solidFill>
                  <a:srgbClr val="91DDD5"/>
                </a:solidFill>
                <a:latin typeface="微软雅黑" panose="020B0503020204020204" charset="-122"/>
              </a:rPr>
              <a:t>QUALITY GOALS</a:t>
            </a:r>
            <a:endParaRPr sz="850" b="1" i="0">
              <a:solidFill>
                <a:srgbClr val="91DDD5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675120" y="2103120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9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900" b="1" i="0">
                <a:solidFill>
                  <a:srgbClr val="FFFFFF"/>
                </a:solidFill>
                <a:latin typeface="微软雅黑" panose="020B0503020204020204" charset="-122"/>
              </a:rPr>
              <a:t>关键质量要求</a:t>
            </a:r>
            <a:endParaRPr sz="19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693408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00" b="1" i="0">
                <a:solidFill>
                  <a:srgbClr val="F2B86A"/>
                </a:solidFill>
                <a:latin typeface="微软雅黑" panose="020B0503020204020204" charset="-122"/>
              </a:defRPr>
            </a:pPr>
            <a:r>
              <a:rPr sz="1500" b="1" i="0">
                <a:solidFill>
                  <a:srgbClr val="91DDD5"/>
                </a:solidFill>
                <a:latin typeface="微软雅黑" panose="020B0503020204020204" charset="-122"/>
              </a:rPr>
              <a:t>✓</a:t>
            </a:r>
            <a:endParaRPr sz="1500" b="1" i="0">
              <a:solidFill>
                <a:srgbClr val="F2B86A"/>
              </a:solidFill>
              <a:latin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086600" y="2752344"/>
            <a:ext cx="404164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0" i="0">
                <a:solidFill>
                  <a:srgbClr val="D8E4EB"/>
                </a:solidFill>
                <a:latin typeface="微软雅黑" panose="020B0503020204020204" charset="-122"/>
              </a:defRPr>
            </a:pPr>
            <a:r>
              <a:rPr sz="1120" b="0" i="0">
                <a:solidFill>
                  <a:srgbClr val="D8E4EB"/>
                </a:solidFill>
                <a:latin typeface="微软雅黑" panose="020B0503020204020204" charset="-122"/>
              </a:rPr>
              <a:t>回答绑定文档、页码与原文快照</a:t>
            </a:r>
            <a:endParaRPr sz="1120" b="0" i="0">
              <a:solidFill>
                <a:srgbClr val="D8E4EB"/>
              </a:solidFill>
              <a:latin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693408" y="32369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00" b="1" i="0">
                <a:solidFill>
                  <a:srgbClr val="F2B86A"/>
                </a:solidFill>
                <a:latin typeface="微软雅黑" panose="020B0503020204020204" charset="-122"/>
              </a:defRPr>
            </a:pPr>
            <a:r>
              <a:rPr sz="1500" b="1" i="0">
                <a:solidFill>
                  <a:srgbClr val="91DDD5"/>
                </a:solidFill>
                <a:latin typeface="微软雅黑" panose="020B0503020204020204" charset="-122"/>
              </a:rPr>
              <a:t>✓</a:t>
            </a:r>
            <a:endParaRPr sz="1500" b="1" i="0">
              <a:solidFill>
                <a:srgbClr val="F2B86A"/>
              </a:solidFill>
              <a:latin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086600" y="3246120"/>
            <a:ext cx="404164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0" i="0">
                <a:solidFill>
                  <a:srgbClr val="D8E4EB"/>
                </a:solidFill>
                <a:latin typeface="微软雅黑" panose="020B0503020204020204" charset="-122"/>
              </a:defRPr>
            </a:pPr>
            <a:r>
              <a:rPr sz="1120" b="0" i="0">
                <a:solidFill>
                  <a:srgbClr val="D8E4EB"/>
                </a:solidFill>
                <a:latin typeface="微软雅黑" panose="020B0503020204020204" charset="-122"/>
              </a:rPr>
              <a:t>索引版本化，失败任务可安全重试</a:t>
            </a:r>
            <a:endParaRPr sz="1120" b="0" i="0">
              <a:solidFill>
                <a:srgbClr val="D8E4EB"/>
              </a:solidFill>
              <a:latin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693408" y="37307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00" b="1" i="0">
                <a:solidFill>
                  <a:srgbClr val="F2B86A"/>
                </a:solidFill>
                <a:latin typeface="微软雅黑" panose="020B0503020204020204" charset="-122"/>
              </a:defRPr>
            </a:pPr>
            <a:r>
              <a:rPr sz="1500" b="1" i="0">
                <a:solidFill>
                  <a:srgbClr val="91DDD5"/>
                </a:solidFill>
                <a:latin typeface="微软雅黑" panose="020B0503020204020204" charset="-122"/>
              </a:rPr>
              <a:t>✓</a:t>
            </a:r>
            <a:endParaRPr sz="1500" b="1" i="0">
              <a:solidFill>
                <a:srgbClr val="F2B86A"/>
              </a:solidFill>
              <a:latin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086600" y="3739896"/>
            <a:ext cx="404164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0" i="0">
                <a:solidFill>
                  <a:srgbClr val="D8E4EB"/>
                </a:solidFill>
                <a:latin typeface="微软雅黑" panose="020B0503020204020204" charset="-122"/>
              </a:defRPr>
            </a:pPr>
            <a:r>
              <a:rPr sz="1120" b="0" i="0">
                <a:solidFill>
                  <a:srgbClr val="D8E4EB"/>
                </a:solidFill>
                <a:latin typeface="微软雅黑" panose="020B0503020204020204" charset="-122"/>
              </a:rPr>
              <a:t>固定版本与配置，保留可复现评估证据</a:t>
            </a:r>
            <a:endParaRPr sz="1120" b="0" i="0">
              <a:solidFill>
                <a:srgbClr val="D8E4EB"/>
              </a:solidFill>
              <a:latin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693408" y="422452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00" b="1" i="0">
                <a:solidFill>
                  <a:srgbClr val="F2B86A"/>
                </a:solidFill>
                <a:latin typeface="微软雅黑" panose="020B0503020204020204" charset="-122"/>
              </a:defRPr>
            </a:pPr>
            <a:r>
              <a:rPr sz="1500" b="1" i="0">
                <a:solidFill>
                  <a:srgbClr val="91DDD5"/>
                </a:solidFill>
                <a:latin typeface="微软雅黑" panose="020B0503020204020204" charset="-122"/>
              </a:rPr>
              <a:t>✓</a:t>
            </a:r>
            <a:endParaRPr sz="1500" b="1" i="0">
              <a:solidFill>
                <a:srgbClr val="F2B86A"/>
              </a:solidFill>
              <a:latin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086600" y="4233672"/>
            <a:ext cx="404164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0" i="0">
                <a:solidFill>
                  <a:srgbClr val="D8E4EB"/>
                </a:solidFill>
                <a:latin typeface="微软雅黑" panose="020B0503020204020204" charset="-122"/>
              </a:defRPr>
            </a:pPr>
            <a:r>
              <a:rPr sz="1120" b="0" i="0">
                <a:solidFill>
                  <a:srgbClr val="D8E4EB"/>
                </a:solidFill>
                <a:latin typeface="微软雅黑" panose="020B0503020204020204" charset="-122"/>
              </a:rPr>
              <a:t>单体服务与单 Worker，支持轻量部署</a:t>
            </a:r>
            <a:endParaRPr sz="1120" b="0" i="0">
              <a:solidFill>
                <a:srgbClr val="D8E4EB"/>
              </a:solidFill>
              <a:latin typeface="微软雅黑" panose="020B0503020204020204" charset="-122"/>
            </a:endParaRPr>
          </a:p>
        </p:txBody>
      </p:sp>
      <p:cxnSp>
        <p:nvCxnSpPr>
          <p:cNvPr id="47" name="Connector 46"/>
          <p:cNvCxnSpPr/>
          <p:nvPr/>
        </p:nvCxnSpPr>
        <p:spPr>
          <a:xfrm>
            <a:off x="6675120" y="4892040"/>
            <a:ext cx="4608576" cy="0"/>
          </a:xfrm>
          <a:prstGeom prst="line">
            <a:avLst/>
          </a:prstGeom>
          <a:ln w="12700">
            <a:solidFill>
              <a:srgbClr val="365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675120" y="5102352"/>
            <a:ext cx="4480560" cy="5760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  <a:defRPr sz="1150" b="1" i="0">
                <a:solidFill>
                  <a:srgbClr val="91DDD5"/>
                </a:solidFill>
                <a:latin typeface="微软雅黑" panose="020B0503020204020204" charset="-122"/>
              </a:defRPr>
            </a:pPr>
            <a:r>
              <a:rPr sz="1150" b="1" i="0">
                <a:solidFill>
                  <a:srgbClr val="91DDD5"/>
                </a:solidFill>
                <a:latin typeface="微软雅黑" panose="020B0503020204020204" charset="-122"/>
              </a:rPr>
              <a:t>缺失信息标“待确认”</a:t>
            </a:r>
            <a:endParaRPr sz="1150" b="1" i="0">
              <a:solidFill>
                <a:srgbClr val="91DDD5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  <a:defRPr sz="1150" b="1" i="0">
                <a:solidFill>
                  <a:srgbClr val="91DDD5"/>
                </a:solidFill>
                <a:latin typeface="微软雅黑" panose="020B0503020204020204" charset="-122"/>
              </a:defRPr>
            </a:pPr>
            <a:r>
              <a:rPr sz="1150" b="1" i="0">
                <a:solidFill>
                  <a:srgbClr val="91DDD5"/>
                </a:solidFill>
                <a:latin typeface="微软雅黑" panose="020B0503020204020204" charset="-122"/>
              </a:rPr>
              <a:t>不编造看似完整的生产参数</a:t>
            </a:r>
            <a:endParaRPr sz="1150" b="1" i="0">
              <a:solidFill>
                <a:srgbClr val="91DDD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56032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04  /  系统需求与 UML 用例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21792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23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2300" b="1" i="0">
                <a:solidFill>
                  <a:srgbClr val="102A43"/>
                </a:solidFill>
                <a:latin typeface="微软雅黑" panose="020B0503020204020204" charset="-122"/>
              </a:rPr>
              <a:t>三类角色，围绕同一知识闭环协作</a:t>
            </a:r>
            <a:endParaRPr sz="23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49640" y="274320"/>
            <a:ext cx="303580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USTC  /  ENGINEERING PRACTICE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197864"/>
            <a:ext cx="11000232" cy="0"/>
          </a:xfrm>
          <a:prstGeom prst="line">
            <a:avLst/>
          </a:prstGeom>
          <a:ln w="1270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1016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4360" y="6547104"/>
            <a:ext cx="4230858" cy="0"/>
          </a:xfrm>
          <a:prstGeom prst="line">
            <a:avLst/>
          </a:prstGeom>
          <a:ln w="27940">
            <a:solidFill>
              <a:srgbClr val="0E9F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6318504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8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800" b="0" i="0">
                <a:solidFill>
                  <a:srgbClr val="62788A"/>
                </a:solidFill>
                <a:latin typeface="微软雅黑" panose="020B0503020204020204" charset="-122"/>
              </a:rPr>
              <a:t>基于 RAG 的轻量级企业工艺生成</a:t>
            </a:r>
            <a:endParaRPr sz="8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0216"/>
            <a:ext cx="94183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05  /  13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3822191" cy="4553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19" y="1608358"/>
            <a:ext cx="3547872" cy="417163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645152" y="1417320"/>
            <a:ext cx="6949440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5152" y="1417320"/>
            <a:ext cx="64008" cy="932688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37760" y="1655064"/>
            <a:ext cx="448056" cy="448056"/>
          </a:xfrm>
          <a:prstGeom prst="ellipse">
            <a:avLst/>
          </a:prstGeom>
          <a:solidFill>
            <a:srgbClr val="E5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0" y="1655064"/>
            <a:ext cx="448056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E9F9A"/>
                </a:solidFill>
                <a:latin typeface="Aptos"/>
              </a:defRPr>
            </a:pPr>
            <a:r>
              <a:rPr sz="950" b="1" i="0">
                <a:solidFill>
                  <a:srgbClr val="0E9F9A"/>
                </a:solidFill>
                <a:latin typeface="Aptos"/>
              </a:rPr>
              <a:t>01</a:t>
            </a:r>
            <a:endParaRPr sz="950" b="1" i="0">
              <a:solidFill>
                <a:srgbClr val="0E9F9A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577840" y="1572768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50" b="1" i="0">
                <a:solidFill>
                  <a:srgbClr val="102A43"/>
                </a:solidFill>
                <a:latin typeface="微软雅黑" panose="020B0503020204020204" charset="-122"/>
              </a:rPr>
              <a:t>工艺人员</a:t>
            </a:r>
            <a:endParaRPr sz="15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577840" y="1956816"/>
            <a:ext cx="56235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3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30" b="0" i="0">
                <a:solidFill>
                  <a:srgbClr val="62788A"/>
                </a:solidFill>
                <a:latin typeface="微软雅黑" panose="020B0503020204020204" charset="-122"/>
              </a:rPr>
              <a:t>知识问答｜加工指令草案｜连续追问｜查看引用</a:t>
            </a:r>
            <a:endParaRPr sz="103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645152" y="2569464"/>
            <a:ext cx="6949440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69464"/>
            <a:ext cx="64008" cy="932688"/>
          </a:xfrm>
          <a:prstGeom prst="rect">
            <a:avLst/>
          </a:prstGeom>
          <a:solidFill>
            <a:srgbClr val="216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937760" y="2807208"/>
            <a:ext cx="448056" cy="448056"/>
          </a:xfrm>
          <a:prstGeom prst="ellipse">
            <a:avLst/>
          </a:prstGeom>
          <a:solidFill>
            <a:srgbClr val="EA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37760" y="2807208"/>
            <a:ext cx="448056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2166A5"/>
                </a:solidFill>
                <a:latin typeface="Aptos"/>
              </a:defRPr>
            </a:pPr>
            <a:r>
              <a:rPr sz="950" b="1" i="0">
                <a:solidFill>
                  <a:srgbClr val="2166A5"/>
                </a:solidFill>
                <a:latin typeface="Aptos"/>
              </a:rPr>
              <a:t>02</a:t>
            </a:r>
            <a:endParaRPr sz="950" b="1" i="0">
              <a:solidFill>
                <a:srgbClr val="2166A5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577840" y="272491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50" b="1" i="0">
                <a:solidFill>
                  <a:srgbClr val="102A43"/>
                </a:solidFill>
                <a:latin typeface="微软雅黑" panose="020B0503020204020204" charset="-122"/>
              </a:rPr>
              <a:t>知识库管理员</a:t>
            </a:r>
            <a:endParaRPr sz="15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77840" y="3108960"/>
            <a:ext cx="56235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3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30" b="0" i="0">
                <a:solidFill>
                  <a:srgbClr val="62788A"/>
                </a:solidFill>
                <a:latin typeface="微软雅黑" panose="020B0503020204020204" charset="-122"/>
              </a:rPr>
              <a:t>上传 PDF｜重建或删除｜状态与失败原因｜任务重试</a:t>
            </a:r>
            <a:endParaRPr sz="103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645152" y="3721608"/>
            <a:ext cx="6949440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3721608"/>
            <a:ext cx="64008" cy="932688"/>
          </a:xfrm>
          <a:prstGeom prst="rect">
            <a:avLst/>
          </a:prstGeom>
          <a:solidFill>
            <a:srgbClr val="E9A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937760" y="3959352"/>
            <a:ext cx="448056" cy="448056"/>
          </a:xfrm>
          <a:prstGeom prst="ellipse">
            <a:avLst/>
          </a:prstGeom>
          <a:solidFill>
            <a:srgbClr val="EE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37760" y="3959352"/>
            <a:ext cx="448056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E9A23B"/>
                </a:solidFill>
                <a:latin typeface="Aptos"/>
              </a:defRPr>
            </a:pPr>
            <a:r>
              <a:rPr sz="950" b="1" i="0">
                <a:solidFill>
                  <a:srgbClr val="E9A23B"/>
                </a:solidFill>
                <a:latin typeface="Aptos"/>
              </a:rPr>
              <a:t>03</a:t>
            </a:r>
            <a:endParaRPr sz="950" b="1" i="0">
              <a:solidFill>
                <a:srgbClr val="E9A23B"/>
              </a:solidFill>
              <a:latin typeface="Apto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577840" y="3877056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50" b="1" i="0">
                <a:solidFill>
                  <a:srgbClr val="102A43"/>
                </a:solidFill>
                <a:latin typeface="微软雅黑" panose="020B0503020204020204" charset="-122"/>
              </a:rPr>
              <a:t>评估人员</a:t>
            </a:r>
            <a:endParaRPr sz="15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577840" y="4261104"/>
            <a:ext cx="56235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3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30" b="0" i="0">
                <a:solidFill>
                  <a:srgbClr val="62788A"/>
                </a:solidFill>
                <a:latin typeface="微软雅黑" panose="020B0503020204020204" charset="-122"/>
              </a:rPr>
              <a:t>固定测试集执行｜检索诊断｜人工评分｜结果导出</a:t>
            </a:r>
            <a:endParaRPr sz="103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4645152" y="4956048"/>
            <a:ext cx="6949440" cy="713232"/>
          </a:xfrm>
          <a:prstGeom prst="roundRect">
            <a:avLst>
              <a:gd name="adj" fmla="val 12000"/>
            </a:avLst>
          </a:prstGeom>
          <a:solidFill>
            <a:srgbClr val="E5F6F3"/>
          </a:solidFill>
          <a:ln w="10160">
            <a:solidFill>
              <a:srgbClr val="BF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892040" y="5157216"/>
            <a:ext cx="804672" cy="292608"/>
          </a:xfrm>
          <a:prstGeom prst="roundRect">
            <a:avLst>
              <a:gd name="adj" fmla="val 12000"/>
            </a:avLst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92040" y="5157216"/>
            <a:ext cx="804672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FFFFFF"/>
                </a:solidFill>
                <a:latin typeface="微软雅黑" panose="020B0503020204020204" charset="-122"/>
              </a:rPr>
              <a:t>P0 规则</a:t>
            </a:r>
            <a:endParaRPr sz="95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907024" y="5111496"/>
            <a:ext cx="5349240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1150" b="1" i="0">
                <a:solidFill>
                  <a:srgbClr val="087F7B"/>
                </a:solidFill>
                <a:latin typeface="微软雅黑" panose="020B0503020204020204" charset="-122"/>
              </a:rPr>
              <a:t>仅 READY 文档参与检索；引用必须来自实际上下文</a:t>
            </a:r>
            <a:endParaRPr sz="11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56032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05  /  UML 构件设计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21792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23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2300" b="1" i="0">
                <a:solidFill>
                  <a:srgbClr val="102A43"/>
                </a:solidFill>
                <a:latin typeface="微软雅黑" panose="020B0503020204020204" charset="-122"/>
              </a:rPr>
              <a:t>单体服务 + 单 Worker，离线在线解耦</a:t>
            </a:r>
            <a:endParaRPr sz="23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49640" y="274320"/>
            <a:ext cx="303580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USTC  /  ENGINEERING PRACTICE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197864"/>
            <a:ext cx="11000232" cy="0"/>
          </a:xfrm>
          <a:prstGeom prst="line">
            <a:avLst/>
          </a:prstGeom>
          <a:ln w="1270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1016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4360" y="6547104"/>
            <a:ext cx="5077030" cy="0"/>
          </a:xfrm>
          <a:prstGeom prst="line">
            <a:avLst/>
          </a:prstGeom>
          <a:ln w="27940">
            <a:solidFill>
              <a:srgbClr val="0E9F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6318504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8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800" b="0" i="0">
                <a:solidFill>
                  <a:srgbClr val="62788A"/>
                </a:solidFill>
                <a:latin typeface="微软雅黑" panose="020B0503020204020204" charset="-122"/>
              </a:rPr>
              <a:t>基于 RAG 的轻量级企业工艺生成</a:t>
            </a:r>
            <a:endParaRPr sz="8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0216"/>
            <a:ext cx="94183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06  /  13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94360" y="1389888"/>
            <a:ext cx="11000232" cy="43708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0744" y="1527048"/>
            <a:ext cx="6947462" cy="409651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156448" y="1572768"/>
            <a:ext cx="3063240" cy="329184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56448" y="1572768"/>
            <a:ext cx="306324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FFFFFF"/>
                </a:solidFill>
                <a:latin typeface="微软雅黑" panose="020B0503020204020204" charset="-122"/>
              </a:rPr>
              <a:t>权威元数据：SQLite｜索引可重建</a:t>
            </a:r>
            <a:endParaRPr sz="95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41248" y="5879592"/>
            <a:ext cx="96012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1050" b="1" i="0">
                <a:solidFill>
                  <a:srgbClr val="087F7B"/>
                </a:solidFill>
                <a:latin typeface="微软雅黑" panose="020B0503020204020204" charset="-122"/>
              </a:rPr>
              <a:t>轻量部署</a:t>
            </a:r>
            <a:endParaRPr sz="10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901952" y="5870448"/>
            <a:ext cx="88696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5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50" b="0" i="0">
                <a:solidFill>
                  <a:srgbClr val="62788A"/>
                </a:solidFill>
                <a:latin typeface="微软雅黑" panose="020B0503020204020204" charset="-122"/>
              </a:rPr>
              <a:t>以清晰的数据边界连接文档入库、混合检索、受控生成与评估。</a:t>
            </a:r>
            <a:endParaRPr sz="105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56032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06  /  UML 活动设计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21792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23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2300" b="1" i="0">
                <a:solidFill>
                  <a:srgbClr val="102A43"/>
                </a:solidFill>
                <a:latin typeface="微软雅黑" panose="020B0503020204020204" charset="-122"/>
              </a:rPr>
              <a:t>暂存构建，校验通过后原子发布</a:t>
            </a:r>
            <a:endParaRPr sz="23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49640" y="274320"/>
            <a:ext cx="303580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USTC  /  ENGINEERING PRACTICE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197864"/>
            <a:ext cx="11000232" cy="0"/>
          </a:xfrm>
          <a:prstGeom prst="line">
            <a:avLst/>
          </a:prstGeom>
          <a:ln w="1270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1016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4360" y="6547104"/>
            <a:ext cx="5923201" cy="0"/>
          </a:xfrm>
          <a:prstGeom prst="line">
            <a:avLst/>
          </a:prstGeom>
          <a:ln w="27940">
            <a:solidFill>
              <a:srgbClr val="0E9F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6318504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8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800" b="0" i="0">
                <a:solidFill>
                  <a:srgbClr val="62788A"/>
                </a:solidFill>
                <a:latin typeface="微软雅黑" panose="020B0503020204020204" charset="-122"/>
              </a:rPr>
              <a:t>基于 RAG 的轻量级企业工艺生成</a:t>
            </a:r>
            <a:endParaRPr sz="8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0216"/>
            <a:ext cx="94183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07  /  13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3822191" cy="4553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106" y="1554480"/>
            <a:ext cx="2648698" cy="427939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645152" y="1417320"/>
            <a:ext cx="6949440" cy="8595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901184" y="1618488"/>
            <a:ext cx="438912" cy="438912"/>
          </a:xfrm>
          <a:prstGeom prst="ellipse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01184" y="1618488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FFFFFF"/>
                </a:solidFill>
                <a:latin typeface="Aptos"/>
              </a:defRPr>
            </a:pPr>
            <a:r>
              <a:rPr sz="950" b="1" i="0">
                <a:solidFill>
                  <a:srgbClr val="FFFFFF"/>
                </a:solidFill>
                <a:latin typeface="Aptos"/>
              </a:rPr>
              <a:t>01</a:t>
            </a:r>
            <a:endParaRPr sz="95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559552" y="1554480"/>
            <a:ext cx="1920240" cy="2834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4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450" b="1" i="0">
                <a:solidFill>
                  <a:srgbClr val="102A43"/>
                </a:solidFill>
                <a:latin typeface="微软雅黑" panose="020B0503020204020204" charset="-122"/>
              </a:rPr>
              <a:t>页级解析</a:t>
            </a:r>
            <a:endParaRPr sz="14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559552" y="1911095"/>
            <a:ext cx="55961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4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40" b="0" i="0">
                <a:solidFill>
                  <a:srgbClr val="62788A"/>
                </a:solidFill>
                <a:latin typeface="微软雅黑" panose="020B0503020204020204" charset="-122"/>
              </a:rPr>
              <a:t>保留文档、页码、原文与文本块映射</a:t>
            </a:r>
            <a:endParaRPr sz="104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5120640" y="2276856"/>
            <a:ext cx="0" cy="210312"/>
          </a:xfrm>
          <a:prstGeom prst="line">
            <a:avLst/>
          </a:prstGeom>
          <a:ln w="17780">
            <a:solidFill>
              <a:srgbClr val="9FC4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645152" y="2487168"/>
            <a:ext cx="6949440" cy="8595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901184" y="2688336"/>
            <a:ext cx="438912" cy="438912"/>
          </a:xfrm>
          <a:prstGeom prst="ellipse">
            <a:avLst/>
          </a:prstGeom>
          <a:solidFill>
            <a:srgbClr val="216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01184" y="2688336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FFFFFF"/>
                </a:solidFill>
                <a:latin typeface="Aptos"/>
              </a:defRPr>
            </a:pPr>
            <a:r>
              <a:rPr sz="950" b="1" i="0">
                <a:solidFill>
                  <a:srgbClr val="FFFFFF"/>
                </a:solidFill>
                <a:latin typeface="Aptos"/>
              </a:rPr>
              <a:t>02</a:t>
            </a:r>
            <a:endParaRPr sz="95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559552" y="2624327"/>
            <a:ext cx="1920240" cy="2834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4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450" b="1" i="0">
                <a:solidFill>
                  <a:srgbClr val="102A43"/>
                </a:solidFill>
                <a:latin typeface="微软雅黑" panose="020B0503020204020204" charset="-122"/>
              </a:rPr>
              <a:t>双路暂存</a:t>
            </a:r>
            <a:endParaRPr sz="14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559552" y="2980944"/>
            <a:ext cx="55961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4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40" b="0" i="0">
                <a:solidFill>
                  <a:srgbClr val="62788A"/>
                </a:solidFill>
                <a:latin typeface="微软雅黑" panose="020B0503020204020204" charset="-122"/>
              </a:rPr>
              <a:t>Qdrant 与 BM25 基于同一内容版本构建</a:t>
            </a:r>
            <a:endParaRPr sz="104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5120640" y="3346703"/>
            <a:ext cx="0" cy="210312"/>
          </a:xfrm>
          <a:prstGeom prst="line">
            <a:avLst/>
          </a:prstGeom>
          <a:ln w="17780">
            <a:solidFill>
              <a:srgbClr val="9FC4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645152" y="3557015"/>
            <a:ext cx="6949440" cy="8595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901184" y="3758183"/>
            <a:ext cx="438912" cy="438912"/>
          </a:xfrm>
          <a:prstGeom prst="ellipse">
            <a:avLst/>
          </a:prstGeom>
          <a:solidFill>
            <a:srgbClr val="216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01184" y="3758183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FFFFFF"/>
                </a:solidFill>
                <a:latin typeface="Aptos"/>
              </a:defRPr>
            </a:pPr>
            <a:r>
              <a:rPr sz="950" b="1" i="0">
                <a:solidFill>
                  <a:srgbClr val="FFFFFF"/>
                </a:solidFill>
                <a:latin typeface="Aptos"/>
              </a:rPr>
              <a:t>03</a:t>
            </a:r>
            <a:endParaRPr sz="95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559552" y="3694176"/>
            <a:ext cx="1920240" cy="2834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4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450" b="1" i="0">
                <a:solidFill>
                  <a:srgbClr val="102A43"/>
                </a:solidFill>
                <a:latin typeface="微软雅黑" panose="020B0503020204020204" charset="-122"/>
              </a:rPr>
              <a:t>一致性校验</a:t>
            </a:r>
            <a:endParaRPr sz="14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559552" y="4050791"/>
            <a:ext cx="55961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4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40" b="0" i="0">
                <a:solidFill>
                  <a:srgbClr val="62788A"/>
                </a:solidFill>
                <a:latin typeface="微软雅黑" panose="020B0503020204020204" charset="-122"/>
              </a:rPr>
              <a:t>失败不发布，记录阶段并从安全阶段重试</a:t>
            </a:r>
            <a:endParaRPr sz="104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cxnSp>
        <p:nvCxnSpPr>
          <p:cNvPr id="31" name="Connector 30"/>
          <p:cNvCxnSpPr/>
          <p:nvPr/>
        </p:nvCxnSpPr>
        <p:spPr>
          <a:xfrm>
            <a:off x="5120640" y="4416552"/>
            <a:ext cx="0" cy="210312"/>
          </a:xfrm>
          <a:prstGeom prst="line">
            <a:avLst/>
          </a:prstGeom>
          <a:ln w="17780">
            <a:solidFill>
              <a:srgbClr val="9FC4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645152" y="4626864"/>
            <a:ext cx="6949440" cy="8595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901184" y="4828031"/>
            <a:ext cx="438912" cy="438912"/>
          </a:xfrm>
          <a:prstGeom prst="ellipse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1184" y="4828031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FFFFFF"/>
                </a:solidFill>
                <a:latin typeface="Aptos"/>
              </a:defRPr>
            </a:pPr>
            <a:r>
              <a:rPr sz="950" b="1" i="0">
                <a:solidFill>
                  <a:srgbClr val="FFFFFF"/>
                </a:solidFill>
                <a:latin typeface="Aptos"/>
              </a:rPr>
              <a:t>04</a:t>
            </a:r>
            <a:endParaRPr sz="95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559552" y="4764024"/>
            <a:ext cx="1920240" cy="2834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4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450" b="1" i="0">
                <a:solidFill>
                  <a:srgbClr val="102A43"/>
                </a:solidFill>
                <a:latin typeface="微软雅黑" panose="020B0503020204020204" charset="-122"/>
              </a:rPr>
              <a:t>活动版本</a:t>
            </a:r>
            <a:endParaRPr sz="14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559552" y="5120640"/>
            <a:ext cx="55961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4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40" b="0" i="0">
                <a:solidFill>
                  <a:srgbClr val="62788A"/>
                </a:solidFill>
                <a:latin typeface="微软雅黑" panose="020B0503020204020204" charset="-122"/>
              </a:rPr>
              <a:t>重建时旧版本继续服务，发布后异步清理</a:t>
            </a:r>
            <a:endParaRPr sz="104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4645152" y="5733288"/>
            <a:ext cx="6949440" cy="256032"/>
          </a:xfrm>
          <a:prstGeom prst="roundRect">
            <a:avLst>
              <a:gd name="adj" fmla="val 12000"/>
            </a:avLst>
          </a:prstGeom>
          <a:solidFill>
            <a:srgbClr val="EE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00600" y="5724144"/>
            <a:ext cx="6629400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3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930" b="0" i="0">
                <a:solidFill>
                  <a:srgbClr val="62788A"/>
                </a:solidFill>
                <a:latin typeface="微软雅黑" panose="020B0503020204020204" charset="-122"/>
              </a:rPr>
              <a:t>核心原则：新版本未通过校验前，线上服务始终使用旧版本。</a:t>
            </a:r>
            <a:endParaRPr sz="93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56032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07  /  核心检索方案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21792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23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2300" b="1" i="0">
                <a:solidFill>
                  <a:srgbClr val="102A43"/>
                </a:solidFill>
                <a:latin typeface="微软雅黑" panose="020B0503020204020204" charset="-122"/>
              </a:rPr>
              <a:t>以排名融合，兼顾语义与精确匹配</a:t>
            </a:r>
            <a:endParaRPr sz="23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49640" y="274320"/>
            <a:ext cx="303580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USTC  /  ENGINEERING PRACTICE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197864"/>
            <a:ext cx="11000232" cy="0"/>
          </a:xfrm>
          <a:prstGeom prst="line">
            <a:avLst/>
          </a:prstGeom>
          <a:ln w="1270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1016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4360" y="6547104"/>
            <a:ext cx="6769373" cy="0"/>
          </a:xfrm>
          <a:prstGeom prst="line">
            <a:avLst/>
          </a:prstGeom>
          <a:ln w="27940">
            <a:solidFill>
              <a:srgbClr val="0E9F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6318504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8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800" b="0" i="0">
                <a:solidFill>
                  <a:srgbClr val="62788A"/>
                </a:solidFill>
                <a:latin typeface="微软雅黑" panose="020B0503020204020204" charset="-122"/>
              </a:rPr>
              <a:t>基于 RAG 的轻量级企业工艺生成</a:t>
            </a:r>
            <a:endParaRPr sz="8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0216"/>
            <a:ext cx="94183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08  /  13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94360" y="2029968"/>
            <a:ext cx="1581912" cy="987552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2212848"/>
            <a:ext cx="128930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35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350" b="1" i="0">
                <a:solidFill>
                  <a:srgbClr val="FFFFFF"/>
                </a:solidFill>
                <a:latin typeface="微软雅黑" panose="020B0503020204020204" charset="-122"/>
              </a:rPr>
              <a:t>独立检索问题</a:t>
            </a:r>
            <a:endParaRPr sz="135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22376" y="2606040"/>
            <a:ext cx="1325880" cy="2103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880" b="0" i="0">
                <a:solidFill>
                  <a:srgbClr val="B7CBD8"/>
                </a:solidFill>
                <a:latin typeface="微软雅黑" panose="020B0503020204020204" charset="-122"/>
              </a:defRPr>
            </a:pPr>
            <a:r>
              <a:rPr sz="880" b="0" i="0">
                <a:solidFill>
                  <a:srgbClr val="B7CBD8"/>
                </a:solidFill>
                <a:latin typeface="微软雅黑" panose="020B0503020204020204" charset="-122"/>
              </a:rPr>
              <a:t>多轮历史仅用于改写</a:t>
            </a:r>
            <a:endParaRPr sz="880" b="0" i="0">
              <a:solidFill>
                <a:srgbClr val="B7CBD8"/>
              </a:solidFill>
              <a:latin typeface="微软雅黑" panose="020B0503020204020204" charset="-122"/>
            </a:endParaRPr>
          </a:p>
        </p:txBody>
      </p:sp>
      <p:sp>
        <p:nvSpPr>
          <p:cNvPr id="15" name="Chevron 14"/>
          <p:cNvSpPr/>
          <p:nvPr/>
        </p:nvSpPr>
        <p:spPr>
          <a:xfrm>
            <a:off x="2350008" y="2359152"/>
            <a:ext cx="219456" cy="310896"/>
          </a:xfrm>
          <a:prstGeom prst="chevron">
            <a:avLst/>
          </a:prstGeom>
          <a:solidFill>
            <a:srgbClr val="9D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2587752" y="1764792"/>
            <a:ext cx="0" cy="749808"/>
          </a:xfrm>
          <a:prstGeom prst="line">
            <a:avLst/>
          </a:prstGeom>
          <a:ln w="16510">
            <a:solidFill>
              <a:srgbClr val="9D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87752" y="2514600"/>
            <a:ext cx="0" cy="749808"/>
          </a:xfrm>
          <a:prstGeom prst="line">
            <a:avLst/>
          </a:prstGeom>
          <a:ln w="16510">
            <a:solidFill>
              <a:srgbClr val="9D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770632" y="1417320"/>
            <a:ext cx="1938528" cy="896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70632" y="1417320"/>
            <a:ext cx="54864" cy="896112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800" y="1572768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2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250" b="1" i="0">
                <a:solidFill>
                  <a:srgbClr val="102A43"/>
                </a:solidFill>
                <a:latin typeface="微软雅黑" panose="020B0503020204020204" charset="-122"/>
              </a:rPr>
              <a:t>稠密向量召回</a:t>
            </a:r>
            <a:endParaRPr sz="12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971800" y="1938528"/>
            <a:ext cx="1554480" cy="2103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4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940" b="0" i="0">
                <a:solidFill>
                  <a:srgbClr val="62788A"/>
                </a:solidFill>
                <a:latin typeface="微软雅黑" panose="020B0503020204020204" charset="-122"/>
              </a:rPr>
              <a:t>同义表达 / 自然语言</a:t>
            </a:r>
            <a:endParaRPr sz="94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2770632" y="2907792"/>
            <a:ext cx="1938528" cy="896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70632" y="2907792"/>
            <a:ext cx="54864" cy="896112"/>
          </a:xfrm>
          <a:prstGeom prst="rect">
            <a:avLst/>
          </a:prstGeom>
          <a:solidFill>
            <a:srgbClr val="216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71800" y="306324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2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250" b="1" i="0">
                <a:solidFill>
                  <a:srgbClr val="102A43"/>
                </a:solidFill>
                <a:latin typeface="微软雅黑" panose="020B0503020204020204" charset="-122"/>
              </a:rPr>
              <a:t>BM25 稀疏召回</a:t>
            </a:r>
            <a:endParaRPr sz="12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971800" y="3429000"/>
            <a:ext cx="1554480" cy="2103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4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940" b="0" i="0">
                <a:solidFill>
                  <a:srgbClr val="62788A"/>
                </a:solidFill>
                <a:latin typeface="微软雅黑" panose="020B0503020204020204" charset="-122"/>
              </a:rPr>
              <a:t>术语 / 型号 / 数值</a:t>
            </a:r>
            <a:endParaRPr sz="94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cxnSp>
        <p:nvCxnSpPr>
          <p:cNvPr id="26" name="Connector 25"/>
          <p:cNvCxnSpPr/>
          <p:nvPr/>
        </p:nvCxnSpPr>
        <p:spPr>
          <a:xfrm>
            <a:off x="4709160" y="1865376"/>
            <a:ext cx="466344" cy="640080"/>
          </a:xfrm>
          <a:prstGeom prst="line">
            <a:avLst/>
          </a:prstGeom>
          <a:ln w="16510">
            <a:solidFill>
              <a:srgbClr val="9D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4709160" y="2670048"/>
            <a:ext cx="466344" cy="685800"/>
          </a:xfrm>
          <a:prstGeom prst="line">
            <a:avLst/>
          </a:prstGeom>
          <a:ln w="16510">
            <a:solidFill>
              <a:srgbClr val="9D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230368" y="2075688"/>
            <a:ext cx="1627632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096" y="2249424"/>
            <a:ext cx="140817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3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350" b="1" i="0">
                <a:solidFill>
                  <a:srgbClr val="102A43"/>
                </a:solidFill>
                <a:latin typeface="微软雅黑" panose="020B0503020204020204" charset="-122"/>
              </a:rPr>
              <a:t>RRF 融合</a:t>
            </a:r>
            <a:endParaRPr sz="13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340096" y="2633472"/>
            <a:ext cx="1408176" cy="2103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4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940" b="0" i="0">
                <a:solidFill>
                  <a:srgbClr val="62788A"/>
                </a:solidFill>
                <a:latin typeface="微软雅黑" panose="020B0503020204020204" charset="-122"/>
              </a:rPr>
              <a:t>去重 / 排名归一</a:t>
            </a:r>
            <a:endParaRPr sz="94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31" name="Chevron 30"/>
          <p:cNvSpPr/>
          <p:nvPr/>
        </p:nvSpPr>
        <p:spPr>
          <a:xfrm>
            <a:off x="7022592" y="2377440"/>
            <a:ext cx="219456" cy="310896"/>
          </a:xfrm>
          <a:prstGeom prst="chevron">
            <a:avLst/>
          </a:prstGeom>
          <a:solidFill>
            <a:srgbClr val="9D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315200" y="2075688"/>
            <a:ext cx="1490472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24927" y="2249424"/>
            <a:ext cx="127101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3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350" b="1" i="0">
                <a:solidFill>
                  <a:srgbClr val="102A43"/>
                </a:solidFill>
                <a:latin typeface="微软雅黑" panose="020B0503020204020204" charset="-122"/>
              </a:rPr>
              <a:t>重排序</a:t>
            </a:r>
            <a:endParaRPr sz="13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424927" y="2633472"/>
            <a:ext cx="1271016" cy="2103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4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940" b="0" i="0">
                <a:solidFill>
                  <a:srgbClr val="62788A"/>
                </a:solidFill>
                <a:latin typeface="微软雅黑" panose="020B0503020204020204" charset="-122"/>
              </a:rPr>
              <a:t>候选精炼</a:t>
            </a:r>
            <a:endParaRPr sz="94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35" name="Chevron 34"/>
          <p:cNvSpPr/>
          <p:nvPr/>
        </p:nvSpPr>
        <p:spPr>
          <a:xfrm>
            <a:off x="8970263" y="2377440"/>
            <a:ext cx="219456" cy="310896"/>
          </a:xfrm>
          <a:prstGeom prst="chevron">
            <a:avLst/>
          </a:prstGeom>
          <a:solidFill>
            <a:srgbClr val="9D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290304" y="2075688"/>
            <a:ext cx="2304288" cy="932688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00032" y="2249424"/>
            <a:ext cx="208483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35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350" b="1" i="0">
                <a:solidFill>
                  <a:srgbClr val="FFFFFF"/>
                </a:solidFill>
                <a:latin typeface="微软雅黑" panose="020B0503020204020204" charset="-122"/>
              </a:rPr>
              <a:t>受控生成</a:t>
            </a:r>
            <a:endParaRPr sz="135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9400032" y="2633472"/>
            <a:ext cx="2084832" cy="2103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40" b="0" i="0">
                <a:solidFill>
                  <a:srgbClr val="B7CBD8"/>
                </a:solidFill>
                <a:latin typeface="微软雅黑" panose="020B0503020204020204" charset="-122"/>
              </a:defRPr>
            </a:pPr>
            <a:r>
              <a:rPr sz="940" b="0" i="0">
                <a:solidFill>
                  <a:srgbClr val="B7CBD8"/>
                </a:solidFill>
                <a:latin typeface="微软雅黑" panose="020B0503020204020204" charset="-122"/>
              </a:rPr>
              <a:t>预算 / 引用</a:t>
            </a:r>
            <a:endParaRPr sz="940" b="0" i="0">
              <a:solidFill>
                <a:srgbClr val="B7CBD8"/>
              </a:solidFill>
              <a:latin typeface="微软雅黑" panose="020B0503020204020204" charset="-122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594360" y="4224528"/>
            <a:ext cx="6236208" cy="1042415"/>
          </a:xfrm>
          <a:prstGeom prst="roundRect">
            <a:avLst>
              <a:gd name="adj" fmla="val 12000"/>
            </a:avLst>
          </a:prstGeom>
          <a:solidFill>
            <a:srgbClr val="EAF2F9"/>
          </a:solidFill>
          <a:ln w="10160">
            <a:solidFill>
              <a:srgbClr val="CE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32104" y="4443984"/>
            <a:ext cx="603504" cy="292608"/>
          </a:xfrm>
          <a:prstGeom prst="roundRect">
            <a:avLst>
              <a:gd name="adj" fmla="val 12000"/>
            </a:avLst>
          </a:prstGeom>
          <a:solidFill>
            <a:srgbClr val="216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2104" y="4443984"/>
            <a:ext cx="603504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000" b="1" i="0">
                <a:solidFill>
                  <a:srgbClr val="FFFFFF"/>
                </a:solidFill>
                <a:latin typeface="微软雅黑" panose="020B0503020204020204" charset="-122"/>
              </a:rPr>
              <a:t>RRF</a:t>
            </a:r>
            <a:endParaRPr sz="10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664208" y="4379976"/>
            <a:ext cx="480060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00" b="1" i="0">
                <a:solidFill>
                  <a:srgbClr val="102A43"/>
                </a:solidFill>
                <a:latin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</a:rPr>
              <a:t>RRFScore(d) = Σᵢ 1 / (k + rankᵢ(d))</a:t>
            </a:r>
            <a:endParaRPr sz="1500" b="1" i="0">
              <a:solidFill>
                <a:srgbClr val="102A43"/>
              </a:solidFill>
              <a:latin typeface="Apto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664208" y="4818888"/>
            <a:ext cx="4800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7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970" b="0" i="0">
                <a:solidFill>
                  <a:srgbClr val="62788A"/>
                </a:solidFill>
                <a:latin typeface="微软雅黑" panose="020B0503020204020204" charset="-122"/>
              </a:rPr>
              <a:t>只融合排名，不直接比较向量分数与 BM25 分数</a:t>
            </a:r>
            <a:endParaRPr sz="97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7059168" y="4224528"/>
            <a:ext cx="4535424" cy="1042415"/>
          </a:xfrm>
          <a:prstGeom prst="roundRect">
            <a:avLst>
              <a:gd name="adj" fmla="val 12000"/>
            </a:avLst>
          </a:prstGeom>
          <a:solidFill>
            <a:srgbClr val="FFF5E5"/>
          </a:solidFill>
          <a:ln w="10160">
            <a:solidFill>
              <a:srgbClr val="F0D5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06056" y="4407408"/>
            <a:ext cx="4041648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450" b="1" i="0">
                <a:solidFill>
                  <a:srgbClr val="9A6418"/>
                </a:solidFill>
                <a:latin typeface="微软雅黑" panose="020B0503020204020204" charset="-122"/>
              </a:defRPr>
            </a:pPr>
            <a:r>
              <a:rPr sz="1450" b="1" i="0">
                <a:solidFill>
                  <a:srgbClr val="9A6418"/>
                </a:solidFill>
                <a:latin typeface="微软雅黑" panose="020B0503020204020204" charset="-122"/>
              </a:rPr>
              <a:t>证据不足  →  明确拒答</a:t>
            </a:r>
            <a:endParaRPr sz="1450" b="1" i="0">
              <a:solidFill>
                <a:srgbClr val="9A6418"/>
              </a:solidFill>
              <a:latin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306056" y="4818888"/>
            <a:ext cx="3977639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60" b="0" i="0">
                <a:solidFill>
                  <a:srgbClr val="765321"/>
                </a:solidFill>
                <a:latin typeface="微软雅黑" panose="020B0503020204020204" charset="-122"/>
              </a:defRPr>
            </a:pPr>
            <a:r>
              <a:rPr sz="960" b="0" i="0">
                <a:solidFill>
                  <a:srgbClr val="765321"/>
                </a:solidFill>
                <a:latin typeface="微软雅黑" panose="020B0503020204020204" charset="-122"/>
              </a:rPr>
              <a:t>无候选、低于阈值或上下文校验失败时，不编造答案</a:t>
            </a:r>
            <a:endParaRPr sz="960" b="0" i="0">
              <a:solidFill>
                <a:srgbClr val="765321"/>
              </a:solidFill>
              <a:latin typeface="微软雅黑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94360" y="5614416"/>
            <a:ext cx="1100023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3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30" b="0" i="0">
                <a:solidFill>
                  <a:srgbClr val="62788A"/>
                </a:solidFill>
                <a:latin typeface="微软雅黑" panose="020B0503020204020204" charset="-122"/>
              </a:rPr>
              <a:t>待实验确定：两路 top-k、RRF 常数 k、重排序 top-n、相关性阈值和上下文预算</a:t>
            </a:r>
            <a:endParaRPr sz="103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56032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08  /  UML 类设计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21792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23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2300" b="1" i="0">
                <a:solidFill>
                  <a:srgbClr val="102A43"/>
                </a:solidFill>
                <a:latin typeface="微软雅黑" panose="020B0503020204020204" charset="-122"/>
              </a:rPr>
              <a:t>版本、消息与引用快照构成追溯主线</a:t>
            </a:r>
            <a:endParaRPr sz="23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49640" y="274320"/>
            <a:ext cx="303580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USTC  /  ENGINEERING PRACTICE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197864"/>
            <a:ext cx="11000232" cy="0"/>
          </a:xfrm>
          <a:prstGeom prst="line">
            <a:avLst/>
          </a:prstGeom>
          <a:ln w="1270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1016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4360" y="6547104"/>
            <a:ext cx="7615545" cy="0"/>
          </a:xfrm>
          <a:prstGeom prst="line">
            <a:avLst/>
          </a:prstGeom>
          <a:ln w="27940">
            <a:solidFill>
              <a:srgbClr val="0E9F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6318504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8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800" b="0" i="0">
                <a:solidFill>
                  <a:srgbClr val="62788A"/>
                </a:solidFill>
                <a:latin typeface="微软雅黑" panose="020B0503020204020204" charset="-122"/>
              </a:rPr>
              <a:t>基于 RAG 的轻量级企业工艺生成</a:t>
            </a:r>
            <a:endParaRPr sz="8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0216"/>
            <a:ext cx="94183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09  /  13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3822191" cy="4553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296" y="1554480"/>
            <a:ext cx="2956318" cy="427939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645152" y="1417320"/>
            <a:ext cx="694944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5152" y="1417320"/>
            <a:ext cx="64008" cy="1143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37760" y="1636776"/>
            <a:ext cx="420624" cy="420624"/>
          </a:xfrm>
          <a:prstGeom prst="ellipse">
            <a:avLst/>
          </a:prstGeom>
          <a:solidFill>
            <a:srgbClr val="E5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0" y="1636776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00" b="1" i="0">
                <a:solidFill>
                  <a:srgbClr val="0E9F9A"/>
                </a:solidFill>
                <a:latin typeface="Aptos"/>
              </a:defRPr>
            </a:pPr>
            <a:r>
              <a:rPr sz="900" b="1" i="0">
                <a:solidFill>
                  <a:srgbClr val="0E9F9A"/>
                </a:solidFill>
                <a:latin typeface="Aptos"/>
              </a:rPr>
              <a:t>01</a:t>
            </a:r>
            <a:endParaRPr sz="900" b="1" i="0">
              <a:solidFill>
                <a:srgbClr val="0E9F9A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559552" y="1591056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00" b="1" i="0">
                <a:solidFill>
                  <a:srgbClr val="102A43"/>
                </a:solidFill>
                <a:latin typeface="微软雅黑" panose="020B0503020204020204" charset="-122"/>
              </a:rPr>
              <a:t>文档知识链</a:t>
            </a:r>
            <a:endParaRPr sz="15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559552" y="2011680"/>
            <a:ext cx="5596128" cy="429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990" b="0" i="0">
                <a:solidFill>
                  <a:srgbClr val="62788A"/>
                </a:solidFill>
                <a:latin typeface="Aptos"/>
              </a:defRPr>
            </a:pPr>
            <a:r>
              <a:rPr sz="990" b="0" i="0">
                <a:solidFill>
                  <a:srgbClr val="62788A"/>
                </a:solidFill>
                <a:latin typeface="Aptos"/>
              </a:rPr>
              <a:t>Document 1 ─ * IndexVersion 1 ─ * Chunk</a:t>
            </a:r>
            <a:endParaRPr sz="990" b="0" i="0">
              <a:solidFill>
                <a:srgbClr val="62788A"/>
              </a:solidFill>
              <a:latin typeface="Aptos"/>
            </a:endParaRPr>
          </a:p>
          <a:p>
            <a:pPr algn="l">
              <a:lnSpc>
                <a:spcPct val="118000"/>
              </a:lnSpc>
              <a:spcAft>
                <a:spcPts val="0"/>
              </a:spcAft>
              <a:defRPr sz="990" b="0" i="0">
                <a:solidFill>
                  <a:srgbClr val="62788A"/>
                </a:solidFill>
                <a:latin typeface="Aptos"/>
              </a:defRPr>
            </a:pPr>
            <a:r>
              <a:rPr sz="990" b="0" i="0">
                <a:solidFill>
                  <a:srgbClr val="62788A"/>
                </a:solidFill>
                <a:latin typeface="Aptos"/>
              </a:rPr>
              <a:t>Document 0..1 活动版本</a:t>
            </a:r>
            <a:endParaRPr sz="99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645152" y="2807208"/>
            <a:ext cx="694944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807208"/>
            <a:ext cx="64008" cy="1143000"/>
          </a:xfrm>
          <a:prstGeom prst="rect">
            <a:avLst/>
          </a:prstGeom>
          <a:solidFill>
            <a:srgbClr val="216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937760" y="3026664"/>
            <a:ext cx="420624" cy="420624"/>
          </a:xfrm>
          <a:prstGeom prst="ellipse">
            <a:avLst/>
          </a:prstGeom>
          <a:solidFill>
            <a:srgbClr val="EA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37760" y="3026664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00" b="1" i="0">
                <a:solidFill>
                  <a:srgbClr val="2166A5"/>
                </a:solidFill>
                <a:latin typeface="Aptos"/>
              </a:defRPr>
            </a:pPr>
            <a:r>
              <a:rPr sz="900" b="1" i="0">
                <a:solidFill>
                  <a:srgbClr val="2166A5"/>
                </a:solidFill>
                <a:latin typeface="Aptos"/>
              </a:rPr>
              <a:t>02</a:t>
            </a:r>
            <a:endParaRPr sz="900" b="1" i="0">
              <a:solidFill>
                <a:srgbClr val="2166A5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559552" y="2980944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00" b="1" i="0">
                <a:solidFill>
                  <a:srgbClr val="102A43"/>
                </a:solidFill>
                <a:latin typeface="微软雅黑" panose="020B0503020204020204" charset="-122"/>
              </a:rPr>
              <a:t>会话追溯链</a:t>
            </a:r>
            <a:endParaRPr sz="15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59552" y="3401568"/>
            <a:ext cx="5596128" cy="429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990" b="0" i="0">
                <a:solidFill>
                  <a:srgbClr val="62788A"/>
                </a:solidFill>
                <a:latin typeface="Aptos"/>
              </a:defRPr>
            </a:pPr>
            <a:r>
              <a:rPr sz="990" b="0" i="0">
                <a:solidFill>
                  <a:srgbClr val="62788A"/>
                </a:solidFill>
                <a:latin typeface="Aptos"/>
              </a:rPr>
              <a:t>User 1 ─ * Conversation 1 ─ * Message</a:t>
            </a:r>
            <a:endParaRPr sz="990" b="0" i="0">
              <a:solidFill>
                <a:srgbClr val="62788A"/>
              </a:solidFill>
              <a:latin typeface="Aptos"/>
            </a:endParaRPr>
          </a:p>
          <a:p>
            <a:pPr algn="l">
              <a:lnSpc>
                <a:spcPct val="118000"/>
              </a:lnSpc>
              <a:spcAft>
                <a:spcPts val="0"/>
              </a:spcAft>
              <a:defRPr sz="990" b="0" i="0">
                <a:solidFill>
                  <a:srgbClr val="62788A"/>
                </a:solidFill>
                <a:latin typeface="Aptos"/>
              </a:defRPr>
            </a:pPr>
            <a:r>
              <a:rPr sz="990" b="0" i="0">
                <a:solidFill>
                  <a:srgbClr val="62788A"/>
                </a:solidFill>
                <a:latin typeface="Aptos"/>
              </a:rPr>
              <a:t>Message 1 ─ * Citation</a:t>
            </a:r>
            <a:endParaRPr sz="99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645152" y="4197096"/>
            <a:ext cx="694944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197096"/>
            <a:ext cx="64008" cy="1143000"/>
          </a:xfrm>
          <a:prstGeom prst="rect">
            <a:avLst/>
          </a:prstGeom>
          <a:solidFill>
            <a:srgbClr val="E9A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937760" y="4416552"/>
            <a:ext cx="420624" cy="420624"/>
          </a:xfrm>
          <a:prstGeom prst="ellipse">
            <a:avLst/>
          </a:prstGeom>
          <a:solidFill>
            <a:srgbClr val="FFF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37760" y="4416552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00" b="1" i="0">
                <a:solidFill>
                  <a:srgbClr val="E9A23B"/>
                </a:solidFill>
                <a:latin typeface="Aptos"/>
              </a:defRPr>
            </a:pPr>
            <a:r>
              <a:rPr sz="900" b="1" i="0">
                <a:solidFill>
                  <a:srgbClr val="E9A23B"/>
                </a:solidFill>
                <a:latin typeface="Aptos"/>
              </a:rPr>
              <a:t>03</a:t>
            </a:r>
            <a:endParaRPr sz="900" b="1" i="0">
              <a:solidFill>
                <a:srgbClr val="E9A23B"/>
              </a:solidFill>
              <a:latin typeface="Apto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559552" y="437083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00" b="1" i="0">
                <a:solidFill>
                  <a:srgbClr val="102A43"/>
                </a:solidFill>
                <a:latin typeface="微软雅黑" panose="020B0503020204020204" charset="-122"/>
              </a:rPr>
              <a:t>一致性约束</a:t>
            </a:r>
            <a:endParaRPr sz="15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559552" y="4791456"/>
            <a:ext cx="5596128" cy="429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99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990" b="0" i="0">
                <a:solidFill>
                  <a:srgbClr val="62788A"/>
                </a:solidFill>
                <a:latin typeface="微软雅黑" panose="020B0503020204020204" charset="-122"/>
              </a:rPr>
              <a:t>Citation 指向来源 Chunk；历史引用保存原文快照</a:t>
            </a:r>
            <a:endParaRPr sz="990" b="0" i="0">
              <a:solidFill>
                <a:srgbClr val="62788A"/>
              </a:solidFill>
              <a:latin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0"/>
              </a:spcAft>
              <a:defRPr sz="99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990" b="0" i="0">
                <a:solidFill>
                  <a:srgbClr val="62788A"/>
                </a:solidFill>
                <a:latin typeface="微软雅黑" panose="020B0503020204020204" charset="-122"/>
              </a:rPr>
              <a:t>嵌入或分块变化必须新建索引版本</a:t>
            </a:r>
            <a:endParaRPr sz="99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4645152" y="5641848"/>
            <a:ext cx="6949440" cy="329184"/>
          </a:xfrm>
          <a:prstGeom prst="roundRect">
            <a:avLst>
              <a:gd name="adj" fmla="val 12000"/>
            </a:avLst>
          </a:prstGeom>
          <a:solidFill>
            <a:srgbClr val="E5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28032" y="5650992"/>
            <a:ext cx="65836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1000" b="1" i="0">
                <a:solidFill>
                  <a:srgbClr val="087F7B"/>
                </a:solidFill>
                <a:latin typeface="微软雅黑" panose="020B0503020204020204" charset="-122"/>
              </a:rPr>
              <a:t>追溯的关键：回答、引用与知识版本始终一一对应。</a:t>
            </a:r>
            <a:endParaRPr sz="100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56032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09  /  UML 时序设计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21792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23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2300" b="1" i="0">
                <a:solidFill>
                  <a:srgbClr val="102A43"/>
                </a:solidFill>
                <a:latin typeface="微软雅黑" panose="020B0503020204020204" charset="-122"/>
              </a:rPr>
              <a:t>并行召回、分支处理、引用持久化</a:t>
            </a:r>
            <a:endParaRPr sz="23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49640" y="274320"/>
            <a:ext cx="303580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USTC  /  ENGINEERING PRACTICE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197864"/>
            <a:ext cx="11000232" cy="0"/>
          </a:xfrm>
          <a:prstGeom prst="line">
            <a:avLst/>
          </a:prstGeom>
          <a:ln w="1270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1016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4360" y="6547104"/>
            <a:ext cx="8461716" cy="0"/>
          </a:xfrm>
          <a:prstGeom prst="line">
            <a:avLst/>
          </a:prstGeom>
          <a:ln w="27940">
            <a:solidFill>
              <a:srgbClr val="0E9F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6318504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8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800" b="0" i="0">
                <a:solidFill>
                  <a:srgbClr val="62788A"/>
                </a:solidFill>
                <a:latin typeface="微软雅黑" panose="020B0503020204020204" charset="-122"/>
              </a:rPr>
              <a:t>基于 RAG 的轻量级企业工艺生成</a:t>
            </a:r>
            <a:endParaRPr sz="8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0216"/>
            <a:ext cx="94183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10  /  14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7360920" cy="4553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7278" y="1554480"/>
            <a:ext cx="5675082" cy="427939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183879" y="1417320"/>
            <a:ext cx="3410712" cy="12710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0" y="1618488"/>
            <a:ext cx="393192" cy="393192"/>
          </a:xfrm>
          <a:prstGeom prst="ellipse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618488"/>
            <a:ext cx="393192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00" b="1" i="0">
                <a:solidFill>
                  <a:srgbClr val="FFFFFF"/>
                </a:solidFill>
                <a:latin typeface="Aptos"/>
              </a:defRPr>
            </a:pPr>
            <a:r>
              <a:rPr sz="900" b="1" i="0">
                <a:solidFill>
                  <a:srgbClr val="FFFFFF"/>
                </a:solidFill>
                <a:latin typeface="Aptos"/>
              </a:rPr>
              <a:t>01</a:t>
            </a:r>
            <a:endParaRPr sz="9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979408" y="1618488"/>
            <a:ext cx="226771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4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450" b="1" i="0">
                <a:solidFill>
                  <a:srgbClr val="102A43"/>
                </a:solidFill>
                <a:latin typeface="微软雅黑" panose="020B0503020204020204" charset="-122"/>
              </a:rPr>
              <a:t>独立问题</a:t>
            </a:r>
            <a:endParaRPr sz="14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412480" y="2121408"/>
            <a:ext cx="2816352" cy="429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保留原始问题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近期历史不直接作为证据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8183879" y="2935224"/>
            <a:ext cx="3410712" cy="12710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12480" y="3136392"/>
            <a:ext cx="393192" cy="393192"/>
          </a:xfrm>
          <a:prstGeom prst="ellipse">
            <a:avLst/>
          </a:prstGeom>
          <a:solidFill>
            <a:srgbClr val="216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3136392"/>
            <a:ext cx="393192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00" b="1" i="0">
                <a:solidFill>
                  <a:srgbClr val="FFFFFF"/>
                </a:solidFill>
                <a:latin typeface="Aptos"/>
              </a:defRPr>
            </a:pPr>
            <a:r>
              <a:rPr sz="900" b="1" i="0">
                <a:solidFill>
                  <a:srgbClr val="FFFFFF"/>
                </a:solidFill>
                <a:latin typeface="Aptos"/>
              </a:rPr>
              <a:t>02</a:t>
            </a:r>
            <a:endParaRPr sz="9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979408" y="3136392"/>
            <a:ext cx="226771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4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450" b="1" i="0">
                <a:solidFill>
                  <a:srgbClr val="102A43"/>
                </a:solidFill>
                <a:latin typeface="微软雅黑" panose="020B0503020204020204" charset="-122"/>
              </a:rPr>
              <a:t>备选路径</a:t>
            </a:r>
            <a:endParaRPr sz="14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412480" y="3639312"/>
            <a:ext cx="2816352" cy="429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证据充分：受控生成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证据不足：明确说明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8183879" y="4453128"/>
            <a:ext cx="3410712" cy="1271016"/>
          </a:xfrm>
          <a:prstGeom prst="roundRect">
            <a:avLst>
              <a:gd name="adj" fmla="val 12000"/>
            </a:avLst>
          </a:prstGeom>
          <a:solidFill>
            <a:srgbClr val="E5F6F3"/>
          </a:solidFill>
          <a:ln w="10160">
            <a:solidFill>
              <a:srgbClr val="BF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12480" y="4654296"/>
            <a:ext cx="393192" cy="393192"/>
          </a:xfrm>
          <a:prstGeom prst="ellipse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4654296"/>
            <a:ext cx="393192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00" b="1" i="0">
                <a:solidFill>
                  <a:srgbClr val="FFFFFF"/>
                </a:solidFill>
                <a:latin typeface="Aptos"/>
              </a:defRPr>
            </a:pPr>
            <a:r>
              <a:rPr sz="900" b="1" i="0">
                <a:solidFill>
                  <a:srgbClr val="FFFFFF"/>
                </a:solidFill>
                <a:latin typeface="Aptos"/>
              </a:rPr>
              <a:t>03</a:t>
            </a:r>
            <a:endParaRPr sz="9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979408" y="4654296"/>
            <a:ext cx="226771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4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450" b="1" i="0">
                <a:solidFill>
                  <a:srgbClr val="102A43"/>
                </a:solidFill>
                <a:latin typeface="微软雅黑" panose="020B0503020204020204" charset="-122"/>
              </a:rPr>
              <a:t>结果可复查</a:t>
            </a:r>
            <a:endParaRPr sz="14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412480" y="5157216"/>
            <a:ext cx="2816352" cy="429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校验引用编号白名单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保存配置、消息与引用快照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56032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10  /  技术难度与特色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21792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23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2300" b="1" i="0">
                <a:solidFill>
                  <a:srgbClr val="102A43"/>
                </a:solidFill>
                <a:latin typeface="微软雅黑" panose="020B0503020204020204" charset="-122"/>
              </a:rPr>
              <a:t>关键难点与项目特色</a:t>
            </a:r>
            <a:endParaRPr sz="23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49640" y="274320"/>
            <a:ext cx="303580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USTC  /  ENGINEERING PRACTICE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197864"/>
            <a:ext cx="11000232" cy="0"/>
          </a:xfrm>
          <a:prstGeom prst="line">
            <a:avLst/>
          </a:prstGeom>
          <a:ln w="1270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1016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4360" y="6547104"/>
            <a:ext cx="9307888" cy="0"/>
          </a:xfrm>
          <a:prstGeom prst="line">
            <a:avLst/>
          </a:prstGeom>
          <a:ln w="27940">
            <a:solidFill>
              <a:srgbClr val="0E9F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6318504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8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800" b="0" i="0">
                <a:solidFill>
                  <a:srgbClr val="62788A"/>
                </a:solidFill>
                <a:latin typeface="微软雅黑" panose="020B0503020204020204" charset="-122"/>
              </a:rPr>
              <a:t>基于 RAG 的轻量级企业工艺生成</a:t>
            </a:r>
            <a:endParaRPr sz="8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0216"/>
            <a:ext cx="94183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11  /  14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49808" y="1417320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00" b="1" i="0">
                <a:solidFill>
                  <a:srgbClr val="62788A"/>
                </a:solidFill>
                <a:latin typeface="微软雅黑" panose="020B0503020204020204" charset="-122"/>
              </a:rPr>
              <a:t>技术主线</a:t>
            </a:r>
            <a:endParaRPr sz="1000" b="1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267712" y="141732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00" b="1" i="0">
                <a:solidFill>
                  <a:srgbClr val="62788A"/>
                </a:solidFill>
                <a:latin typeface="微软雅黑" panose="020B0503020204020204" charset="-122"/>
              </a:rPr>
              <a:t>关键挑战</a:t>
            </a:r>
            <a:endParaRPr sz="1000" b="1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00" b="1" i="0">
                <a:solidFill>
                  <a:srgbClr val="62788A"/>
                </a:solidFill>
                <a:latin typeface="微软雅黑" panose="020B0503020204020204" charset="-122"/>
              </a:rPr>
              <a:t>工程策略</a:t>
            </a:r>
            <a:endParaRPr sz="1000" b="1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94360" y="1792224"/>
            <a:ext cx="11000232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8096" y="1938528"/>
            <a:ext cx="1115568" cy="310896"/>
          </a:xfrm>
          <a:prstGeom prst="roundRect">
            <a:avLst>
              <a:gd name="adj" fmla="val 12000"/>
            </a:avLst>
          </a:prstGeom>
          <a:solidFill>
            <a:srgbClr val="E5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1938528"/>
            <a:ext cx="111556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检索质量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267712" y="1911095"/>
            <a:ext cx="3767328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20" b="0" i="0">
                <a:solidFill>
                  <a:srgbClr val="18324A"/>
                </a:solidFill>
                <a:latin typeface="微软雅黑" panose="020B0503020204020204" charset="-122"/>
              </a:rPr>
              <a:t>语义召回与精确匹配互补</a:t>
            </a:r>
            <a:endParaRPr sz="112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46520" y="1911095"/>
            <a:ext cx="4709160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120" b="1" i="0">
                <a:solidFill>
                  <a:srgbClr val="102A43"/>
                </a:solidFill>
                <a:latin typeface="微软雅黑" panose="020B0503020204020204" charset="-122"/>
              </a:rPr>
              <a:t>双路统计 + RRF + 消融实验</a:t>
            </a:r>
            <a:endParaRPr sz="112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94360" y="2542032"/>
            <a:ext cx="11000232" cy="603504"/>
          </a:xfrm>
          <a:prstGeom prst="roundRect">
            <a:avLst>
              <a:gd name="adj" fmla="val 12000"/>
            </a:avLst>
          </a:prstGeom>
          <a:solidFill>
            <a:srgbClr val="EE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8096" y="2688336"/>
            <a:ext cx="1115568" cy="310896"/>
          </a:xfrm>
          <a:prstGeom prst="roundRect">
            <a:avLst>
              <a:gd name="adj" fmla="val 12000"/>
            </a:avLst>
          </a:prstGeom>
          <a:solidFill>
            <a:srgbClr val="E5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2688336"/>
            <a:ext cx="111556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可信生成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267712" y="2660903"/>
            <a:ext cx="3767328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20" b="0" i="0">
                <a:solidFill>
                  <a:srgbClr val="18324A"/>
                </a:solidFill>
                <a:latin typeface="微软雅黑" panose="020B0503020204020204" charset="-122"/>
              </a:rPr>
              <a:t>避免无依据参数与伪引用</a:t>
            </a:r>
            <a:endParaRPr sz="112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446520" y="2660903"/>
            <a:ext cx="4709160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120" b="1" i="0">
                <a:solidFill>
                  <a:srgbClr val="102A43"/>
                </a:solidFill>
                <a:latin typeface="微软雅黑" panose="020B0503020204020204" charset="-122"/>
              </a:rPr>
              <a:t>上下文白名单 + 引用快照</a:t>
            </a:r>
            <a:endParaRPr sz="112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94360" y="3291839"/>
            <a:ext cx="11000232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68096" y="3438144"/>
            <a:ext cx="1115568" cy="310896"/>
          </a:xfrm>
          <a:prstGeom prst="roundRect">
            <a:avLst>
              <a:gd name="adj" fmla="val 12000"/>
            </a:avLst>
          </a:prstGeom>
          <a:solidFill>
            <a:srgbClr val="EA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438144"/>
            <a:ext cx="111556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2166A5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2166A5"/>
                </a:solidFill>
                <a:latin typeface="微软雅黑" panose="020B0503020204020204" charset="-122"/>
              </a:rPr>
              <a:t>版本一致</a:t>
            </a:r>
            <a:endParaRPr sz="950" b="1" i="0">
              <a:solidFill>
                <a:srgbClr val="2166A5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267712" y="3410711"/>
            <a:ext cx="3767328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20" b="0" i="0">
                <a:solidFill>
                  <a:srgbClr val="18324A"/>
                </a:solidFill>
                <a:latin typeface="微软雅黑" panose="020B0503020204020204" charset="-122"/>
              </a:rPr>
              <a:t>重建期间避免新旧索引混用</a:t>
            </a:r>
            <a:endParaRPr sz="112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446520" y="3410711"/>
            <a:ext cx="4709160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120" b="1" i="0">
                <a:solidFill>
                  <a:srgbClr val="102A43"/>
                </a:solidFill>
                <a:latin typeface="微软雅黑" panose="020B0503020204020204" charset="-122"/>
              </a:rPr>
              <a:t>暂存索引 + 原子发布</a:t>
            </a:r>
            <a:endParaRPr sz="112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94360" y="4041648"/>
            <a:ext cx="11000232" cy="603504"/>
          </a:xfrm>
          <a:prstGeom prst="roundRect">
            <a:avLst>
              <a:gd name="adj" fmla="val 12000"/>
            </a:avLst>
          </a:prstGeom>
          <a:solidFill>
            <a:srgbClr val="EE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68096" y="4187952"/>
            <a:ext cx="1115568" cy="310896"/>
          </a:xfrm>
          <a:prstGeom prst="roundRect">
            <a:avLst>
              <a:gd name="adj" fmla="val 12000"/>
            </a:avLst>
          </a:prstGeom>
          <a:solidFill>
            <a:srgbClr val="EA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4187952"/>
            <a:ext cx="111556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2166A5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2166A5"/>
                </a:solidFill>
                <a:latin typeface="微软雅黑" panose="020B0503020204020204" charset="-122"/>
              </a:rPr>
              <a:t>多轮隔离</a:t>
            </a:r>
            <a:endParaRPr sz="950" b="1" i="0">
              <a:solidFill>
                <a:srgbClr val="2166A5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267712" y="4160520"/>
            <a:ext cx="3767328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20" b="0" i="0">
                <a:solidFill>
                  <a:srgbClr val="18324A"/>
                </a:solidFill>
                <a:latin typeface="微软雅黑" panose="020B0503020204020204" charset="-122"/>
              </a:rPr>
              <a:t>追问可理解但历史不污染知识</a:t>
            </a:r>
            <a:endParaRPr sz="112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446520" y="4160520"/>
            <a:ext cx="4709160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120" b="1" i="0">
                <a:solidFill>
                  <a:srgbClr val="102A43"/>
                </a:solidFill>
                <a:latin typeface="微软雅黑" panose="020B0503020204020204" charset="-122"/>
              </a:rPr>
              <a:t>仅用于独立问题改写</a:t>
            </a:r>
            <a:endParaRPr sz="112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594360" y="4791456"/>
            <a:ext cx="11000232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68096" y="4937760"/>
            <a:ext cx="1115568" cy="310896"/>
          </a:xfrm>
          <a:prstGeom prst="roundRect">
            <a:avLst>
              <a:gd name="adj" fmla="val 12000"/>
            </a:avLst>
          </a:prstGeom>
          <a:solidFill>
            <a:srgbClr val="E5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937760"/>
            <a:ext cx="111556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轻量完整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2267712" y="4910328"/>
            <a:ext cx="3767328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20" b="0" i="0">
                <a:solidFill>
                  <a:srgbClr val="18324A"/>
                </a:solidFill>
                <a:latin typeface="微软雅黑" panose="020B0503020204020204" charset="-122"/>
              </a:rPr>
              <a:t>核心链路完整且部署不过度复杂</a:t>
            </a:r>
            <a:endParaRPr sz="112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446520" y="4910328"/>
            <a:ext cx="4709160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120" b="1" i="0">
                <a:solidFill>
                  <a:srgbClr val="102A43"/>
                </a:solidFill>
                <a:latin typeface="微软雅黑" panose="020B0503020204020204" charset="-122"/>
              </a:rPr>
              <a:t>单体后端 + 单 Worker</a:t>
            </a:r>
            <a:endParaRPr sz="112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594360" y="5669280"/>
            <a:ext cx="11000232" cy="384048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248" y="5696712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5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050" b="1" i="0">
                <a:solidFill>
                  <a:srgbClr val="FFFFFF"/>
                </a:solidFill>
                <a:latin typeface="微软雅黑" panose="020B0503020204020204" charset="-122"/>
              </a:rPr>
              <a:t>项目特色：面向工艺场景的可核查工程链路，不以提出新基础模型为目标。</a:t>
            </a:r>
            <a:endParaRPr sz="105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56032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11  /  测试与可行性验证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21792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23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2300" b="1" i="0">
                <a:solidFill>
                  <a:srgbClr val="102A43"/>
                </a:solidFill>
                <a:latin typeface="微软雅黑" panose="020B0503020204020204" charset="-122"/>
              </a:rPr>
              <a:t>对比实验与人工评分相互印证</a:t>
            </a:r>
            <a:endParaRPr sz="23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49640" y="274320"/>
            <a:ext cx="303580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USTC  /  ENGINEERING PRACTICE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197864"/>
            <a:ext cx="11000232" cy="0"/>
          </a:xfrm>
          <a:prstGeom prst="line">
            <a:avLst/>
          </a:prstGeom>
          <a:ln w="1270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1016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4360" y="6547104"/>
            <a:ext cx="10154060" cy="0"/>
          </a:xfrm>
          <a:prstGeom prst="line">
            <a:avLst/>
          </a:prstGeom>
          <a:ln w="27940">
            <a:solidFill>
              <a:srgbClr val="0E9F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6318504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8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800" b="0" i="0">
                <a:solidFill>
                  <a:srgbClr val="62788A"/>
                </a:solidFill>
                <a:latin typeface="微软雅黑" panose="020B0503020204020204" charset="-122"/>
              </a:rPr>
              <a:t>基于 RAG 的轻量级企业工艺生成</a:t>
            </a:r>
            <a:endParaRPr sz="8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0216"/>
            <a:ext cx="94183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12  /  14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1417320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50" b="1" i="0">
                <a:solidFill>
                  <a:srgbClr val="102A43"/>
                </a:solidFill>
                <a:latin typeface="微软雅黑" panose="020B0503020204020204" charset="-122"/>
              </a:rPr>
              <a:t>四种检索配置</a:t>
            </a:r>
            <a:endParaRPr sz="15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94360" y="1865376"/>
            <a:ext cx="2468880" cy="457200"/>
          </a:xfrm>
          <a:prstGeom prst="roundRect">
            <a:avLst>
              <a:gd name="adj" fmla="val 12000"/>
            </a:avLst>
          </a:prstGeom>
          <a:solidFill>
            <a:srgbClr val="EAF2F9"/>
          </a:solidFill>
          <a:ln w="10160">
            <a:solidFill>
              <a:srgbClr val="CE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1956816"/>
            <a:ext cx="274320" cy="274320"/>
          </a:xfrm>
          <a:prstGeom prst="ellipse">
            <a:avLst/>
          </a:prstGeom>
          <a:solidFill>
            <a:srgbClr val="216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800" b="1" i="0">
                <a:solidFill>
                  <a:srgbClr val="FFFFFF"/>
                </a:solidFill>
                <a:latin typeface="Aptos"/>
              </a:defRPr>
            </a:pPr>
            <a:r>
              <a:rPr sz="800" b="1" i="0">
                <a:solidFill>
                  <a:srgbClr val="FFFFFF"/>
                </a:solidFill>
                <a:latin typeface="Aptos"/>
              </a:rPr>
              <a:t>1</a:t>
            </a:r>
            <a:endParaRPr sz="8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24712" y="1929384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1" i="0">
                <a:solidFill>
                  <a:srgbClr val="2166A5"/>
                </a:solidFill>
                <a:latin typeface="微软雅黑" panose="020B0503020204020204" charset="-122"/>
              </a:defRPr>
            </a:pPr>
            <a:r>
              <a:rPr sz="1120" b="1" i="0">
                <a:solidFill>
                  <a:srgbClr val="2166A5"/>
                </a:solidFill>
                <a:latin typeface="微软雅黑" panose="020B0503020204020204" charset="-122"/>
              </a:rPr>
              <a:t>仅稠密</a:t>
            </a:r>
            <a:endParaRPr sz="1120" b="1" i="0">
              <a:solidFill>
                <a:srgbClr val="2166A5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3291840" y="1865376"/>
            <a:ext cx="2468880" cy="457200"/>
          </a:xfrm>
          <a:prstGeom prst="roundRect">
            <a:avLst>
              <a:gd name="adj" fmla="val 12000"/>
            </a:avLst>
          </a:prstGeom>
          <a:solidFill>
            <a:srgbClr val="EAF2F9"/>
          </a:solidFill>
          <a:ln w="10160">
            <a:solidFill>
              <a:srgbClr val="CE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29000" y="1956816"/>
            <a:ext cx="274320" cy="274320"/>
          </a:xfrm>
          <a:prstGeom prst="ellipse">
            <a:avLst/>
          </a:prstGeom>
          <a:solidFill>
            <a:srgbClr val="216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29000" y="19568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800" b="1" i="0">
                <a:solidFill>
                  <a:srgbClr val="FFFFFF"/>
                </a:solidFill>
                <a:latin typeface="Aptos"/>
              </a:defRPr>
            </a:pPr>
            <a:r>
              <a:rPr sz="800" b="1" i="0">
                <a:solidFill>
                  <a:srgbClr val="FFFFFF"/>
                </a:solidFill>
                <a:latin typeface="Aptos"/>
              </a:rPr>
              <a:t>2</a:t>
            </a:r>
            <a:endParaRPr sz="8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822191" y="1929384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1" i="0">
                <a:solidFill>
                  <a:srgbClr val="2166A5"/>
                </a:solidFill>
                <a:latin typeface="微软雅黑" panose="020B0503020204020204" charset="-122"/>
              </a:defRPr>
            </a:pPr>
            <a:r>
              <a:rPr sz="1120" b="1" i="0">
                <a:solidFill>
                  <a:srgbClr val="2166A5"/>
                </a:solidFill>
                <a:latin typeface="微软雅黑" panose="020B0503020204020204" charset="-122"/>
              </a:rPr>
              <a:t>仅 BM25</a:t>
            </a:r>
            <a:endParaRPr sz="1120" b="1" i="0">
              <a:solidFill>
                <a:srgbClr val="2166A5"/>
              </a:solidFill>
              <a:latin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94360" y="2487168"/>
            <a:ext cx="2468880" cy="457200"/>
          </a:xfrm>
          <a:prstGeom prst="roundRect">
            <a:avLst>
              <a:gd name="adj" fmla="val 12000"/>
            </a:avLst>
          </a:prstGeom>
          <a:solidFill>
            <a:srgbClr val="E5F6F3"/>
          </a:solidFill>
          <a:ln w="10160">
            <a:solidFill>
              <a:srgbClr val="BF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1520" y="2578608"/>
            <a:ext cx="274320" cy="274320"/>
          </a:xfrm>
          <a:prstGeom prst="ellipse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57860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800" b="1" i="0">
                <a:solidFill>
                  <a:srgbClr val="FFFFFF"/>
                </a:solidFill>
                <a:latin typeface="Aptos"/>
              </a:defRPr>
            </a:pPr>
            <a:r>
              <a:rPr sz="800" b="1" i="0">
                <a:solidFill>
                  <a:srgbClr val="FFFFFF"/>
                </a:solidFill>
                <a:latin typeface="Aptos"/>
              </a:rPr>
              <a:t>3</a:t>
            </a:r>
            <a:endParaRPr sz="8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124712" y="2551176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1120" b="1" i="0">
                <a:solidFill>
                  <a:srgbClr val="087F7B"/>
                </a:solidFill>
                <a:latin typeface="微软雅黑" panose="020B0503020204020204" charset="-122"/>
              </a:rPr>
              <a:t>混合召回</a:t>
            </a:r>
            <a:endParaRPr sz="112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291840" y="2487168"/>
            <a:ext cx="2468880" cy="457200"/>
          </a:xfrm>
          <a:prstGeom prst="roundRect">
            <a:avLst>
              <a:gd name="adj" fmla="val 12000"/>
            </a:avLst>
          </a:prstGeom>
          <a:solidFill>
            <a:srgbClr val="E5F6F3"/>
          </a:solidFill>
          <a:ln w="10160">
            <a:solidFill>
              <a:srgbClr val="BF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429000" y="2578608"/>
            <a:ext cx="274320" cy="274320"/>
          </a:xfrm>
          <a:prstGeom prst="ellipse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29000" y="257860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800" b="1" i="0">
                <a:solidFill>
                  <a:srgbClr val="FFFFFF"/>
                </a:solidFill>
                <a:latin typeface="Aptos"/>
              </a:defRPr>
            </a:pPr>
            <a:r>
              <a:rPr sz="800" b="1" i="0">
                <a:solidFill>
                  <a:srgbClr val="FFFFFF"/>
                </a:solidFill>
                <a:latin typeface="Aptos"/>
              </a:rPr>
              <a:t>4</a:t>
            </a:r>
            <a:endParaRPr sz="8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822191" y="2551176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1120" b="1" i="0">
                <a:solidFill>
                  <a:srgbClr val="087F7B"/>
                </a:solidFill>
                <a:latin typeface="微软雅黑" panose="020B0503020204020204" charset="-122"/>
              </a:rPr>
              <a:t>混合 + 重排序</a:t>
            </a:r>
            <a:endParaRPr sz="112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94360" y="3310128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50" b="1" i="0">
                <a:solidFill>
                  <a:srgbClr val="102A43"/>
                </a:solidFill>
                <a:latin typeface="微软雅黑" panose="020B0503020204020204" charset="-122"/>
              </a:rPr>
              <a:t>测试数据</a:t>
            </a:r>
            <a:endParaRPr sz="15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94360" y="3730752"/>
            <a:ext cx="5166360" cy="1389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" y="3950208"/>
            <a:ext cx="466344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  <a:defRPr sz="111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10" b="0" i="0">
                <a:solidFill>
                  <a:srgbClr val="18324A"/>
                </a:solidFill>
                <a:latin typeface="微软雅黑" panose="020B0503020204020204" charset="-122"/>
              </a:rPr>
              <a:t>≥ 3 份授权文本型 PDF</a:t>
            </a:r>
            <a:endParaRPr sz="1110" b="0" i="0">
              <a:solidFill>
                <a:srgbClr val="18324A"/>
              </a:solidFill>
              <a:latin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  <a:defRPr sz="111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10" b="0" i="0">
                <a:solidFill>
                  <a:srgbClr val="18324A"/>
                </a:solidFill>
                <a:latin typeface="微软雅黑" panose="020B0503020204020204" charset="-122"/>
              </a:rPr>
              <a:t>建议 ≥ 30 题：有答案 / 跨文档 / 多轮 / 无答案</a:t>
            </a:r>
            <a:endParaRPr sz="1110" b="0" i="0">
              <a:solidFill>
                <a:srgbClr val="18324A"/>
              </a:solidFill>
              <a:latin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  <a:defRPr sz="111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10" b="0" i="0">
                <a:solidFill>
                  <a:srgbClr val="18324A"/>
                </a:solidFill>
                <a:latin typeface="微软雅黑" panose="020B0503020204020204" charset="-122"/>
              </a:rPr>
              <a:t>覆盖上传、索引、提问、追问和引用定位</a:t>
            </a:r>
            <a:endParaRPr sz="111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053328" y="1417320"/>
            <a:ext cx="5541264" cy="4553712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1709928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6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600" b="1" i="0">
                <a:solidFill>
                  <a:srgbClr val="FFFFFF"/>
                </a:solidFill>
                <a:latin typeface="微软雅黑" panose="020B0503020204020204" charset="-122"/>
              </a:rPr>
              <a:t>人工评估维度</a:t>
            </a:r>
            <a:endParaRPr sz="16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10314432" y="1719072"/>
            <a:ext cx="896112" cy="292608"/>
          </a:xfrm>
          <a:prstGeom prst="roundRect">
            <a:avLst>
              <a:gd name="adj" fmla="val 12000"/>
            </a:avLst>
          </a:prstGeom>
          <a:solidFill>
            <a:srgbClr val="16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14432" y="1719072"/>
            <a:ext cx="896112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91DDD5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91DDD5"/>
                </a:solidFill>
                <a:latin typeface="微软雅黑" panose="020B0503020204020204" charset="-122"/>
              </a:rPr>
              <a:t>0–2 分</a:t>
            </a:r>
            <a:endParaRPr sz="950" b="1" i="0">
              <a:solidFill>
                <a:srgbClr val="91DDD5"/>
              </a:solidFill>
              <a:latin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364224" y="2212848"/>
            <a:ext cx="4663440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  <a:defRPr sz="1130" b="0" i="0">
                <a:solidFill>
                  <a:srgbClr val="D5E2EA"/>
                </a:solidFill>
                <a:latin typeface="微软雅黑" panose="020B0503020204020204" charset="-122"/>
              </a:defRPr>
            </a:pPr>
            <a:r>
              <a:rPr sz="1130" b="0" i="0">
                <a:solidFill>
                  <a:srgbClr val="D5E2EA"/>
                </a:solidFill>
                <a:latin typeface="微软雅黑" panose="020B0503020204020204" charset="-122"/>
              </a:rPr>
              <a:t>正确性｜完整性｜引用正确性</a:t>
            </a:r>
            <a:endParaRPr sz="1130" b="0" i="0">
              <a:solidFill>
                <a:srgbClr val="D5E2EA"/>
              </a:solidFill>
              <a:latin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  <a:defRPr sz="1130" b="0" i="0">
                <a:solidFill>
                  <a:srgbClr val="D5E2EA"/>
                </a:solidFill>
                <a:latin typeface="微软雅黑" panose="020B0503020204020204" charset="-122"/>
              </a:defRPr>
            </a:pPr>
            <a:r>
              <a:rPr sz="1130" b="0" i="0">
                <a:solidFill>
                  <a:srgbClr val="D5E2EA"/>
                </a:solidFill>
                <a:latin typeface="微软雅黑" panose="020B0503020204020204" charset="-122"/>
              </a:rPr>
              <a:t>表达｜多轮一致性｜拒答合理性</a:t>
            </a:r>
            <a:endParaRPr sz="1130" b="0" i="0">
              <a:solidFill>
                <a:srgbClr val="D5E2EA"/>
              </a:solidFill>
              <a:latin typeface="微软雅黑" panose="020B0503020204020204" charset="-122"/>
            </a:endParaRPr>
          </a:p>
        </p:txBody>
      </p:sp>
      <p:cxnSp>
        <p:nvCxnSpPr>
          <p:cNvPr id="37" name="Connector 36"/>
          <p:cNvCxnSpPr/>
          <p:nvPr/>
        </p:nvCxnSpPr>
        <p:spPr>
          <a:xfrm>
            <a:off x="6364224" y="3026664"/>
            <a:ext cx="4901184" cy="0"/>
          </a:xfrm>
          <a:prstGeom prst="line">
            <a:avLst/>
          </a:prstGeom>
          <a:ln w="12700">
            <a:solidFill>
              <a:srgbClr val="365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364224" y="3255264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200" b="1" i="0">
                <a:solidFill>
                  <a:srgbClr val="91DDD5"/>
                </a:solidFill>
                <a:latin typeface="微软雅黑" panose="020B0503020204020204" charset="-122"/>
              </a:defRPr>
            </a:pPr>
            <a:r>
              <a:rPr sz="1200" b="1" i="0">
                <a:solidFill>
                  <a:srgbClr val="91DDD5"/>
                </a:solidFill>
                <a:latin typeface="微软雅黑" panose="020B0503020204020204" charset="-122"/>
              </a:rPr>
              <a:t>建议验收参考</a:t>
            </a:r>
            <a:endParaRPr sz="1200" b="1" i="0">
              <a:solidFill>
                <a:srgbClr val="91DDD5"/>
              </a:solidFill>
              <a:latin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9921240" y="3273552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900" b="0" i="0">
                <a:solidFill>
                  <a:srgbClr val="8FAFC4"/>
                </a:solidFill>
                <a:latin typeface="微软雅黑" panose="020B0503020204020204" charset="-122"/>
              </a:defRPr>
            </a:pPr>
            <a:r>
              <a:rPr sz="900" b="0" i="0">
                <a:solidFill>
                  <a:srgbClr val="8FAFC4"/>
                </a:solidFill>
                <a:latin typeface="微软雅黑" panose="020B0503020204020204" charset="-122"/>
              </a:rPr>
              <a:t>非既有结果</a:t>
            </a:r>
            <a:endParaRPr sz="900" b="0" i="0">
              <a:solidFill>
                <a:srgbClr val="8FAFC4"/>
              </a:solidFill>
              <a:latin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364224" y="3822191"/>
            <a:ext cx="1444752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2000" b="1" i="0">
                <a:solidFill>
                  <a:srgbClr val="FFFFFF"/>
                </a:solidFill>
                <a:latin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</a:rPr>
              <a:t>≥ 80%</a:t>
            </a:r>
            <a:endParaRPr sz="20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364224" y="4379976"/>
            <a:ext cx="1444752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0" i="0">
                <a:solidFill>
                  <a:srgbClr val="B7CBD8"/>
                </a:solidFill>
                <a:latin typeface="微软雅黑" panose="020B0503020204020204" charset="-122"/>
              </a:defRPr>
            </a:pPr>
            <a:r>
              <a:rPr sz="950" b="0" i="0">
                <a:solidFill>
                  <a:srgbClr val="B7CBD8"/>
                </a:solidFill>
                <a:latin typeface="微软雅黑" panose="020B0503020204020204" charset="-122"/>
              </a:rPr>
              <a:t>有效回答率</a:t>
            </a:r>
            <a:endParaRPr sz="950" b="0" i="0">
              <a:solidFill>
                <a:srgbClr val="B7CBD8"/>
              </a:solidFill>
              <a:latin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982712" y="3822191"/>
            <a:ext cx="1444752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2000" b="1" i="0">
                <a:solidFill>
                  <a:srgbClr val="FFFFFF"/>
                </a:solidFill>
                <a:latin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</a:rPr>
              <a:t>100%</a:t>
            </a:r>
            <a:endParaRPr sz="20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982712" y="4379976"/>
            <a:ext cx="1444752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0" i="0">
                <a:solidFill>
                  <a:srgbClr val="B7CBD8"/>
                </a:solidFill>
                <a:latin typeface="微软雅黑" panose="020B0503020204020204" charset="-122"/>
              </a:defRPr>
            </a:pPr>
            <a:r>
              <a:rPr sz="950" b="0" i="0">
                <a:solidFill>
                  <a:srgbClr val="B7CBD8"/>
                </a:solidFill>
                <a:latin typeface="微软雅黑" panose="020B0503020204020204" charset="-122"/>
              </a:rPr>
              <a:t>引用可核查率</a:t>
            </a:r>
            <a:endParaRPr sz="950" b="0" i="0">
              <a:solidFill>
                <a:srgbClr val="B7CBD8"/>
              </a:solidFill>
              <a:latin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601200" y="3822191"/>
            <a:ext cx="1444752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2400" b="1" i="0">
                <a:solidFill>
                  <a:srgbClr val="FFFFFF"/>
                </a:solidFill>
                <a:latin typeface="Aptos"/>
              </a:defRPr>
            </a:pPr>
            <a:r>
              <a:rPr sz="2400" b="1" i="0">
                <a:solidFill>
                  <a:srgbClr val="FFFFFF"/>
                </a:solidFill>
                <a:latin typeface="Aptos"/>
              </a:rPr>
              <a:t>0</a:t>
            </a:r>
            <a:endParaRPr sz="24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9601200" y="4379976"/>
            <a:ext cx="1444752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0" i="0">
                <a:solidFill>
                  <a:srgbClr val="B7CBD8"/>
                </a:solidFill>
                <a:latin typeface="微软雅黑" panose="020B0503020204020204" charset="-122"/>
              </a:defRPr>
            </a:pPr>
            <a:r>
              <a:rPr sz="950" b="0" i="0">
                <a:solidFill>
                  <a:srgbClr val="B7CBD8"/>
                </a:solidFill>
                <a:latin typeface="微软雅黑" panose="020B0503020204020204" charset="-122"/>
              </a:rPr>
              <a:t>无依据关键参数率</a:t>
            </a:r>
            <a:endParaRPr sz="950" b="0" i="0">
              <a:solidFill>
                <a:srgbClr val="B7CBD8"/>
              </a:solidFill>
              <a:latin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594360" y="6053328"/>
            <a:ext cx="11000232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950" b="0" i="0">
                <a:solidFill>
                  <a:srgbClr val="62788A"/>
                </a:solidFill>
                <a:latin typeface="微软雅黑" panose="020B0503020204020204" charset="-122"/>
              </a:rPr>
              <a:t>所有结果固定知识库版本、模型与检索配置，保留失败样本以便复查。</a:t>
            </a:r>
            <a:endParaRPr sz="95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56032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12  /  计划与交付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21792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23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2300" b="1" i="0">
                <a:solidFill>
                  <a:srgbClr val="102A43"/>
                </a:solidFill>
                <a:latin typeface="微软雅黑" panose="020B0503020204020204" charset="-122"/>
              </a:rPr>
              <a:t>进度安排与阶段成果</a:t>
            </a:r>
            <a:endParaRPr sz="23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49640" y="274320"/>
            <a:ext cx="303580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USTC  /  ENGINEERING PRACTICE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197864"/>
            <a:ext cx="11000232" cy="0"/>
          </a:xfrm>
          <a:prstGeom prst="line">
            <a:avLst/>
          </a:prstGeom>
          <a:ln w="1270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1016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27940">
            <a:solidFill>
              <a:srgbClr val="0E9F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6318504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8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800" b="0" i="0">
                <a:solidFill>
                  <a:srgbClr val="62788A"/>
                </a:solidFill>
                <a:latin typeface="微软雅黑" panose="020B0503020204020204" charset="-122"/>
              </a:rPr>
              <a:t>基于 RAG 的轻量级企业工艺生成</a:t>
            </a:r>
            <a:endParaRPr sz="8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0216"/>
            <a:ext cx="94183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13  /  14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52728" y="1280160"/>
            <a:ext cx="20574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26978"/>
                </a:solidFill>
                <a:latin typeface="微软雅黑" panose="020B0503020204020204" charset="-122"/>
              </a:rPr>
              <a:t>阶段 / 时间</a:t>
            </a:r>
            <a:endParaRPr sz="950" b="1">
              <a:solidFill>
                <a:srgbClr val="526978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639312" y="1280160"/>
            <a:ext cx="5166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26978"/>
                </a:solidFill>
                <a:latin typeface="微软雅黑" panose="020B0503020204020204" charset="-122"/>
              </a:rPr>
              <a:t>主要工作</a:t>
            </a:r>
            <a:endParaRPr sz="950" b="1">
              <a:solidFill>
                <a:srgbClr val="526978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217152" y="1280160"/>
            <a:ext cx="20574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26978"/>
                </a:solidFill>
                <a:latin typeface="微软雅黑" panose="020B0503020204020204" charset="-122"/>
              </a:rPr>
              <a:t>阶段成果</a:t>
            </a:r>
            <a:endParaRPr sz="950" b="1">
              <a:solidFill>
                <a:srgbClr val="526978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12648" y="1554480"/>
            <a:ext cx="10972800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3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1700784"/>
            <a:ext cx="402336" cy="402336"/>
          </a:xfrm>
          <a:prstGeom prst="ellipse">
            <a:avLst/>
          </a:prstGeom>
          <a:solidFill>
            <a:srgbClr val="119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 panose="020B0604020202020204"/>
              </a:rPr>
              <a:t>01</a:t>
            </a:r>
            <a:endParaRPr sz="10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252728" y="1636776"/>
            <a:ext cx="2084831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2A3D"/>
                </a:solidFill>
                <a:latin typeface="微软雅黑" panose="020B0503020204020204" charset="-122"/>
              </a:rPr>
              <a:t>调研与开题</a:t>
            </a:r>
            <a:endParaRPr sz="1300" b="1">
              <a:solidFill>
                <a:srgbClr val="102A3D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252728" y="1938528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>
                <a:solidFill>
                  <a:srgbClr val="119991"/>
                </a:solidFill>
                <a:latin typeface="微软雅黑" panose="020B0503020204020204" charset="-122"/>
              </a:rPr>
              <a:t>本学期第7—9周</a:t>
            </a:r>
            <a:endParaRPr sz="920" b="1">
              <a:solidFill>
                <a:srgbClr val="119991"/>
              </a:solidFill>
              <a:latin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456432" y="1673352"/>
            <a:ext cx="7315" cy="466344"/>
          </a:xfrm>
          <a:prstGeom prst="rect">
            <a:avLst/>
          </a:prstGeom>
          <a:solidFill>
            <a:srgbClr val="D3DEE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39312" y="1627632"/>
            <a:ext cx="519379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20" b="0">
                <a:solidFill>
                  <a:srgbClr val="526978"/>
                </a:solidFill>
                <a:latin typeface="微软雅黑" panose="020B0503020204020204" charset="-122"/>
              </a:rPr>
              <a:t>原定第7—8周开题顺延至第9周；完成需求分析、技术调研、系统概要设计与可行性分析，明确项目范围和评估方法</a:t>
            </a:r>
            <a:endParaRPr sz="1020" b="0">
              <a:solidFill>
                <a:srgbClr val="52697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9006840" y="1673352"/>
            <a:ext cx="7315" cy="466344"/>
          </a:xfrm>
          <a:prstGeom prst="rect">
            <a:avLst/>
          </a:prstGeom>
          <a:solidFill>
            <a:srgbClr val="D3DEE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17152" y="1627632"/>
            <a:ext cx="210312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20" b="1">
                <a:solidFill>
                  <a:srgbClr val="102A3D"/>
                </a:solidFill>
                <a:latin typeface="微软雅黑" panose="020B0503020204020204" charset="-122"/>
              </a:rPr>
              <a:t>开题报告及需求、设计文档</a:t>
            </a:r>
            <a:endParaRPr sz="1020" b="1">
              <a:solidFill>
                <a:srgbClr val="102A3D"/>
              </a:solidFill>
              <a:latin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12648" y="2331720"/>
            <a:ext cx="10972800" cy="704088"/>
          </a:xfrm>
          <a:prstGeom prst="roundRect">
            <a:avLst/>
          </a:prstGeom>
          <a:solidFill>
            <a:srgbClr val="F8FBFB"/>
          </a:solidFill>
          <a:ln w="8890">
            <a:solidFill>
              <a:srgbClr val="D3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2478024"/>
            <a:ext cx="402336" cy="402336"/>
          </a:xfrm>
          <a:prstGeom prst="ellipse">
            <a:avLst/>
          </a:prstGeom>
          <a:solidFill>
            <a:srgbClr val="119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 panose="020B0604020202020204"/>
              </a:rPr>
              <a:t>02</a:t>
            </a:r>
            <a:endParaRPr sz="10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252728" y="2414015"/>
            <a:ext cx="2084831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2A3D"/>
                </a:solidFill>
                <a:latin typeface="微软雅黑" panose="020B0503020204020204" charset="-122"/>
              </a:rPr>
              <a:t>核心功能开发</a:t>
            </a:r>
            <a:endParaRPr sz="1300" b="1">
              <a:solidFill>
                <a:srgbClr val="102A3D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252728" y="2715768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>
                <a:solidFill>
                  <a:srgbClr val="119991"/>
                </a:solidFill>
                <a:latin typeface="微软雅黑" panose="020B0503020204020204" charset="-122"/>
              </a:rPr>
              <a:t>开题后至第一学期末</a:t>
            </a:r>
            <a:endParaRPr sz="920" b="1">
              <a:solidFill>
                <a:srgbClr val="119991"/>
              </a:solidFill>
              <a:latin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456432" y="2450591"/>
            <a:ext cx="7315" cy="466344"/>
          </a:xfrm>
          <a:prstGeom prst="rect">
            <a:avLst/>
          </a:prstGeom>
          <a:solidFill>
            <a:srgbClr val="D3DEE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39312" y="2404872"/>
            <a:ext cx="519379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20" b="0">
                <a:solidFill>
                  <a:srgbClr val="526978"/>
                </a:solidFill>
                <a:latin typeface="微软雅黑" panose="020B0503020204020204" charset="-122"/>
              </a:rPr>
              <a:t>搭建前后端与数据存储环境；实现 PDF 解析分块、向量与 BM25 索引、混合检索、重排序及基础问答，建立固定测试题集</a:t>
            </a:r>
            <a:endParaRPr sz="1020" b="0">
              <a:solidFill>
                <a:srgbClr val="526978"/>
              </a:solidFill>
              <a:latin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9006840" y="2450591"/>
            <a:ext cx="7315" cy="466344"/>
          </a:xfrm>
          <a:prstGeom prst="rect">
            <a:avLst/>
          </a:prstGeom>
          <a:solidFill>
            <a:srgbClr val="D3DEE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17152" y="2404872"/>
            <a:ext cx="210312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20" b="1">
                <a:solidFill>
                  <a:srgbClr val="102A3D"/>
                </a:solidFill>
                <a:latin typeface="微软雅黑" panose="020B0503020204020204" charset="-122"/>
              </a:rPr>
              <a:t>可运行核心原型与阶段测试记录</a:t>
            </a:r>
            <a:endParaRPr sz="1020" b="1">
              <a:solidFill>
                <a:srgbClr val="102A3D"/>
              </a:solidFill>
              <a:latin typeface="微软雅黑" panose="020B0503020204020204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12648" y="3108960"/>
            <a:ext cx="10972800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3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31520" y="3255264"/>
            <a:ext cx="402336" cy="402336"/>
          </a:xfrm>
          <a:prstGeom prst="ellipse">
            <a:avLst/>
          </a:prstGeom>
          <a:solidFill>
            <a:srgbClr val="119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 panose="020B0604020202020204"/>
              </a:rPr>
              <a:t>03</a:t>
            </a:r>
            <a:endParaRPr sz="10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252728" y="3191256"/>
            <a:ext cx="2084831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2A3D"/>
                </a:solidFill>
                <a:latin typeface="微软雅黑" panose="020B0503020204020204" charset="-122"/>
              </a:rPr>
              <a:t>系统集成与中期检查</a:t>
            </a:r>
            <a:endParaRPr sz="1300" b="1">
              <a:solidFill>
                <a:srgbClr val="102A3D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252728" y="3493008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>
                <a:solidFill>
                  <a:srgbClr val="119991"/>
                </a:solidFill>
                <a:latin typeface="微软雅黑" panose="020B0503020204020204" charset="-122"/>
              </a:rPr>
              <a:t>寒假至第二学期开学前三周</a:t>
            </a:r>
            <a:endParaRPr sz="920" b="1">
              <a:solidFill>
                <a:srgbClr val="119991"/>
              </a:solidFill>
              <a:latin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3456432" y="3227832"/>
            <a:ext cx="7315" cy="466344"/>
          </a:xfrm>
          <a:prstGeom prst="rect">
            <a:avLst/>
          </a:prstGeom>
          <a:solidFill>
            <a:srgbClr val="D3DEE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39312" y="3182112"/>
            <a:ext cx="519379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20" b="0">
                <a:solidFill>
                  <a:srgbClr val="526978"/>
                </a:solidFill>
                <a:latin typeface="微软雅黑" panose="020B0503020204020204" charset="-122"/>
              </a:rPr>
              <a:t>完善加工指令草案、多轮会话、引用定位和文档管理；开展前后端联调与初步评估，按课程要求参加中期检查</a:t>
            </a:r>
            <a:endParaRPr sz="1020" b="0">
              <a:solidFill>
                <a:srgbClr val="526978"/>
              </a:solidFill>
              <a:latin typeface="微软雅黑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9006840" y="3227832"/>
            <a:ext cx="7315" cy="466344"/>
          </a:xfrm>
          <a:prstGeom prst="rect">
            <a:avLst/>
          </a:prstGeom>
          <a:solidFill>
            <a:srgbClr val="D3DEE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17152" y="3182112"/>
            <a:ext cx="210312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20" b="1">
                <a:solidFill>
                  <a:srgbClr val="102A3D"/>
                </a:solidFill>
                <a:latin typeface="微软雅黑" panose="020B0503020204020204" charset="-122"/>
              </a:rPr>
              <a:t>中期报告、系统演示及问题改进清单</a:t>
            </a:r>
            <a:endParaRPr sz="1020" b="1">
              <a:solidFill>
                <a:srgbClr val="102A3D"/>
              </a:solidFill>
              <a:latin typeface="微软雅黑" panose="020B0503020204020204" charset="-122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612648" y="3886200"/>
            <a:ext cx="10972800" cy="704088"/>
          </a:xfrm>
          <a:prstGeom prst="roundRect">
            <a:avLst/>
          </a:prstGeom>
          <a:solidFill>
            <a:srgbClr val="F8FBFB"/>
          </a:solidFill>
          <a:ln w="8890">
            <a:solidFill>
              <a:srgbClr val="D3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31520" y="4032504"/>
            <a:ext cx="402336" cy="402336"/>
          </a:xfrm>
          <a:prstGeom prst="ellipse">
            <a:avLst/>
          </a:prstGeom>
          <a:solidFill>
            <a:srgbClr val="10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 panose="020B0604020202020204"/>
              </a:rPr>
              <a:t>04</a:t>
            </a:r>
            <a:endParaRPr sz="10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252728" y="3968496"/>
            <a:ext cx="2084831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2A3D"/>
                </a:solidFill>
                <a:latin typeface="微软雅黑" panose="020B0503020204020204" charset="-122"/>
              </a:rPr>
              <a:t>完善与评估</a:t>
            </a:r>
            <a:endParaRPr sz="1300" b="1">
              <a:solidFill>
                <a:srgbClr val="102A3D"/>
              </a:solidFill>
              <a:latin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252728" y="4270248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>
                <a:solidFill>
                  <a:srgbClr val="119991"/>
                </a:solidFill>
                <a:latin typeface="微软雅黑" panose="020B0503020204020204" charset="-122"/>
              </a:rPr>
              <a:t>中期检查后至6月中旬</a:t>
            </a:r>
            <a:endParaRPr sz="920" b="1">
              <a:solidFill>
                <a:srgbClr val="119991"/>
              </a:solidFill>
              <a:latin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3456432" y="4005072"/>
            <a:ext cx="7315" cy="466344"/>
          </a:xfrm>
          <a:prstGeom prst="rect">
            <a:avLst/>
          </a:prstGeom>
          <a:solidFill>
            <a:srgbClr val="D3DEE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39312" y="3959352"/>
            <a:ext cx="519379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20" b="0">
                <a:solidFill>
                  <a:srgbClr val="526978"/>
                </a:solidFill>
                <a:latin typeface="微软雅黑" panose="020B0503020204020204" charset="-122"/>
              </a:rPr>
              <a:t>修复中期发现的问题；完成多文档检索对比、人工评分、异常与权限测试，优化性能并完善部署和使用说明</a:t>
            </a:r>
            <a:endParaRPr sz="1020" b="0">
              <a:solidFill>
                <a:srgbClr val="526978"/>
              </a:solidFill>
              <a:latin typeface="微软雅黑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9006840" y="4005072"/>
            <a:ext cx="7315" cy="466344"/>
          </a:xfrm>
          <a:prstGeom prst="rect">
            <a:avLst/>
          </a:prstGeom>
          <a:solidFill>
            <a:srgbClr val="D3DEE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17152" y="3959352"/>
            <a:ext cx="210312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20" b="1">
                <a:solidFill>
                  <a:srgbClr val="102A3D"/>
                </a:solidFill>
                <a:latin typeface="微软雅黑" panose="020B0503020204020204" charset="-122"/>
              </a:rPr>
              <a:t>功能完整的系统、测试评估报告及交付文档</a:t>
            </a:r>
            <a:endParaRPr sz="1020" b="1">
              <a:solidFill>
                <a:srgbClr val="102A3D"/>
              </a:solidFill>
              <a:latin typeface="微软雅黑" panose="020B0503020204020204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612648" y="4663440"/>
            <a:ext cx="10972800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3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31520" y="4809744"/>
            <a:ext cx="402336" cy="402336"/>
          </a:xfrm>
          <a:prstGeom prst="ellipse">
            <a:avLst/>
          </a:prstGeom>
          <a:solidFill>
            <a:srgbClr val="10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 panose="020B0604020202020204"/>
              </a:rPr>
              <a:t>05</a:t>
            </a:r>
            <a:endParaRPr sz="10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252728" y="4745736"/>
            <a:ext cx="2084831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2A3D"/>
                </a:solidFill>
                <a:latin typeface="微软雅黑" panose="020B0503020204020204" charset="-122"/>
              </a:rPr>
              <a:t>结题与答辩</a:t>
            </a:r>
            <a:endParaRPr sz="1300" b="1">
              <a:solidFill>
                <a:srgbClr val="102A3D"/>
              </a:solidFill>
              <a:latin typeface="微软雅黑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252728" y="5047488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>
                <a:solidFill>
                  <a:srgbClr val="119991"/>
                </a:solidFill>
                <a:latin typeface="微软雅黑" panose="020B0503020204020204" charset="-122"/>
              </a:rPr>
              <a:t>6月末至7月初</a:t>
            </a:r>
            <a:endParaRPr sz="920" b="1">
              <a:solidFill>
                <a:srgbClr val="119991"/>
              </a:solidFill>
              <a:latin typeface="微软雅黑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3456432" y="4782312"/>
            <a:ext cx="7315" cy="466344"/>
          </a:xfrm>
          <a:prstGeom prst="rect">
            <a:avLst/>
          </a:prstGeom>
          <a:solidFill>
            <a:srgbClr val="D3DEE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39312" y="4736592"/>
            <a:ext cx="519379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20" b="0">
                <a:solidFill>
                  <a:srgbClr val="526978"/>
                </a:solidFill>
                <a:latin typeface="微软雅黑" panose="020B0503020204020204" charset="-122"/>
              </a:rPr>
              <a:t>整理源代码、配置、演示数据和评估证据；完成结题报告与答辩材料，进行部署复核和演示演练</a:t>
            </a:r>
            <a:endParaRPr sz="1020" b="0">
              <a:solidFill>
                <a:srgbClr val="526978"/>
              </a:solidFill>
              <a:latin typeface="微软雅黑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9006840" y="4782312"/>
            <a:ext cx="7315" cy="466344"/>
          </a:xfrm>
          <a:prstGeom prst="rect">
            <a:avLst/>
          </a:prstGeom>
          <a:solidFill>
            <a:srgbClr val="D3DEE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17152" y="4736592"/>
            <a:ext cx="210312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20" b="1">
                <a:solidFill>
                  <a:srgbClr val="102A3D"/>
                </a:solidFill>
                <a:latin typeface="微软雅黑" panose="020B0503020204020204" charset="-122"/>
              </a:rPr>
              <a:t>最终系统版本、结题报告及答辩材料</a:t>
            </a:r>
            <a:endParaRPr sz="1020" b="1">
              <a:solidFill>
                <a:srgbClr val="102A3D"/>
              </a:solidFill>
              <a:latin typeface="微软雅黑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612648" y="5513832"/>
            <a:ext cx="10972800" cy="310896"/>
          </a:xfrm>
          <a:prstGeom prst="roundRect">
            <a:avLst/>
          </a:prstGeom>
          <a:solidFill>
            <a:srgbClr val="E8F6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5550408"/>
            <a:ext cx="10643616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9991"/>
                </a:solidFill>
                <a:latin typeface="微软雅黑" panose="020B0503020204020204" charset="-122"/>
              </a:rPr>
              <a:t>开题时间调整后，以各阶段可运行成果和可复现证据作为完成标准。</a:t>
            </a:r>
            <a:endParaRPr sz="1050" b="1">
              <a:solidFill>
                <a:srgbClr val="119991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75488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3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300" b="1" i="0">
                <a:solidFill>
                  <a:srgbClr val="FFFFFF"/>
                </a:solidFill>
                <a:latin typeface="微软雅黑" panose="020B0503020204020204" charset="-122"/>
              </a:rPr>
              <a:t>中国科学技术大学</a:t>
            </a:r>
            <a:endParaRPr sz="13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49808" y="832104"/>
            <a:ext cx="5029200" cy="2103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750" b="0" i="0">
                <a:solidFill>
                  <a:srgbClr val="8FAFC4"/>
                </a:solidFill>
                <a:latin typeface="Aptos"/>
              </a:defRPr>
            </a:pPr>
            <a:r>
              <a:rPr sz="750" b="0" i="0">
                <a:solidFill>
                  <a:srgbClr val="8FAFC4"/>
                </a:solidFill>
                <a:latin typeface="Aptos"/>
              </a:rPr>
              <a:t>UNIVERSITY OF SCIENCE AND TECHNOLOGY OF CHINA</a:t>
            </a:r>
            <a:endParaRPr sz="750" b="0" i="0">
              <a:solidFill>
                <a:srgbClr val="8FAFC4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49808" y="1353312"/>
            <a:ext cx="1691640" cy="329184"/>
          </a:xfrm>
          <a:prstGeom prst="roundRect">
            <a:avLst>
              <a:gd name="adj" fmla="val 12000"/>
            </a:avLst>
          </a:prstGeom>
          <a:solidFill>
            <a:srgbClr val="16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353312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8FE0D7"/>
                </a:solidFill>
                <a:latin typeface="微软雅黑" panose="020B0503020204020204" charset="-122"/>
              </a:defRPr>
            </a:pPr>
            <a:r>
              <a:rPr sz="1000" b="1" i="0">
                <a:solidFill>
                  <a:srgbClr val="8FE0D7"/>
                </a:solidFill>
                <a:latin typeface="微软雅黑" panose="020B0503020204020204" charset="-122"/>
              </a:rPr>
              <a:t>工程硕士 · 开题汇报</a:t>
            </a:r>
            <a:endParaRPr sz="1000" b="1" i="0">
              <a:solidFill>
                <a:srgbClr val="8FE0D7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49808" y="1828800"/>
            <a:ext cx="6583680" cy="1417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  <a:defRPr sz="31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3100" b="1" i="0">
                <a:solidFill>
                  <a:srgbClr val="FFFFFF"/>
                </a:solidFill>
                <a:latin typeface="微软雅黑" panose="020B0503020204020204" charset="-122"/>
              </a:rPr>
              <a:t>感谢聆听</a:t>
            </a:r>
            <a:endParaRPr sz="31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49808" y="3493008"/>
            <a:ext cx="658368" cy="50292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730752"/>
            <a:ext cx="6172200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  <a:defRPr sz="1050" b="0" i="0">
                <a:solidFill>
                  <a:srgbClr val="AFC4D2"/>
                </a:solidFill>
                <a:latin typeface="Aptos"/>
              </a:defRPr>
            </a:pPr>
            <a:r>
              <a:rPr sz="1050" b="0" i="0">
                <a:solidFill>
                  <a:srgbClr val="AFC4D2"/>
                </a:solidFill>
                <a:latin typeface="Aptos"/>
              </a:rPr>
              <a:t>THANK YOU  ·  QUESTIONS &amp; DISCUSSION</a:t>
            </a:r>
            <a:endParaRPr sz="1050" b="0" i="0">
              <a:solidFill>
                <a:srgbClr val="AFC4D2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49808" y="4590288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50" b="0" i="0">
                <a:solidFill>
                  <a:srgbClr val="D5E2EA"/>
                </a:solidFill>
                <a:latin typeface="微软雅黑" panose="020B0503020204020204" charset="-122"/>
              </a:defRPr>
            </a:pPr>
            <a:r>
              <a:rPr sz="1150" b="0" i="0">
                <a:solidFill>
                  <a:srgbClr val="D5E2EA"/>
                </a:solidFill>
                <a:latin typeface="微软雅黑" panose="020B0503020204020204" charset="-122"/>
              </a:rPr>
              <a:t>敬请各位老师批评指正</a:t>
            </a:r>
            <a:endParaRPr sz="1150" b="0" i="0">
              <a:solidFill>
                <a:srgbClr val="D5E2EA"/>
              </a:solidFill>
              <a:latin typeface="微软雅黑" panose="020B0503020204020204" charset="-122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749808" y="5760720"/>
            <a:ext cx="5879592" cy="0"/>
          </a:xfrm>
          <a:prstGeom prst="line">
            <a:avLst/>
          </a:prstGeom>
          <a:ln w="12700">
            <a:solidFill>
              <a:srgbClr val="365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49808" y="5961888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50" b="0" i="0">
                <a:solidFill>
                  <a:srgbClr val="AFC4D2"/>
                </a:solidFill>
                <a:latin typeface="微软雅黑" panose="020B0503020204020204" charset="-122"/>
              </a:defRPr>
            </a:pPr>
            <a:r>
              <a:rPr sz="1050" b="0" i="0">
                <a:solidFill>
                  <a:srgbClr val="AFC4D2"/>
                </a:solidFill>
                <a:latin typeface="微软雅黑" panose="020B0503020204020204" charset="-122"/>
              </a:rPr>
              <a:t>基于 RAG 的轻量级企业工艺生成</a:t>
            </a:r>
            <a:endParaRPr sz="1050" b="0" i="0">
              <a:solidFill>
                <a:srgbClr val="AFC4D2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332720" y="6080760"/>
            <a:ext cx="10515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1000" b="0" i="0">
                <a:solidFill>
                  <a:srgbClr val="8FAFC4"/>
                </a:solidFill>
                <a:latin typeface="Aptos"/>
              </a:defRPr>
            </a:pPr>
            <a:r>
              <a:rPr sz="1000" b="0" i="0">
                <a:solidFill>
                  <a:srgbClr val="8FAFC4"/>
                </a:solidFill>
                <a:latin typeface="Aptos"/>
              </a:rPr>
              <a:t>2026.10</a:t>
            </a:r>
            <a:endParaRPr sz="1000" b="0" i="0">
              <a:solidFill>
                <a:srgbClr val="8FAFC4"/>
              </a:solidFill>
              <a:latin typeface="Aptos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7635240" y="1124712"/>
            <a:ext cx="3566160" cy="3566160"/>
          </a:xfrm>
          <a:prstGeom prst="ellipse">
            <a:avLst/>
          </a:prstGeom>
          <a:solidFill>
            <a:srgbClr val="102A43"/>
          </a:solidFill>
          <a:ln w="13970">
            <a:solidFill>
              <a:srgbClr val="2A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19872" y="1609344"/>
            <a:ext cx="2596896" cy="2596896"/>
          </a:xfrm>
          <a:prstGeom prst="ellipse">
            <a:avLst/>
          </a:prstGeom>
          <a:solidFill>
            <a:srgbClr val="102A43"/>
          </a:solidFill>
          <a:ln w="13970">
            <a:solidFill>
              <a:srgbClr val="2A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84464" y="2212848"/>
            <a:ext cx="1115568" cy="576072"/>
          </a:xfrm>
          <a:prstGeom prst="line">
            <a:avLst/>
          </a:prstGeom>
          <a:ln w="17780">
            <a:solidFill>
              <a:srgbClr val="4B77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9985248" y="2121408"/>
            <a:ext cx="502920" cy="658368"/>
          </a:xfrm>
          <a:prstGeom prst="line">
            <a:avLst/>
          </a:prstGeom>
          <a:ln w="17780">
            <a:solidFill>
              <a:srgbClr val="4B77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418320" y="3584448"/>
            <a:ext cx="0" cy="457200"/>
          </a:xfrm>
          <a:prstGeom prst="line">
            <a:avLst/>
          </a:prstGeom>
          <a:ln w="17780">
            <a:solidFill>
              <a:srgbClr val="4B77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8741664" y="2212848"/>
            <a:ext cx="1353312" cy="1353312"/>
          </a:xfrm>
          <a:prstGeom prst="ellipse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41664" y="2212848"/>
            <a:ext cx="1353312" cy="13533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2500" b="1" i="0">
                <a:solidFill>
                  <a:srgbClr val="FFFFFF"/>
                </a:solidFill>
                <a:latin typeface="Aptos"/>
              </a:defRPr>
            </a:pPr>
            <a:r>
              <a:rPr sz="2500" b="1" i="0">
                <a:solidFill>
                  <a:srgbClr val="FFFFFF"/>
                </a:solidFill>
                <a:latin typeface="Aptos"/>
              </a:rPr>
              <a:t>RAG</a:t>
            </a:r>
            <a:endParaRPr sz="25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424927" y="1618488"/>
            <a:ext cx="1078992" cy="493776"/>
          </a:xfrm>
          <a:prstGeom prst="roundRect">
            <a:avLst>
              <a:gd name="adj" fmla="val 12000"/>
            </a:avLst>
          </a:prstGeom>
          <a:solidFill>
            <a:srgbClr val="163D5C"/>
          </a:solidFill>
          <a:ln w="10160">
            <a:solidFill>
              <a:srgbClr val="3B68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24927" y="1618488"/>
            <a:ext cx="1078992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2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 b="1" i="0">
                <a:solidFill>
                  <a:srgbClr val="FFFFFF"/>
                </a:solidFill>
                <a:latin typeface="微软雅黑" panose="020B0503020204020204" charset="-122"/>
              </a:rPr>
              <a:t>检索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10387584" y="1536192"/>
            <a:ext cx="1078992" cy="493776"/>
          </a:xfrm>
          <a:prstGeom prst="roundRect">
            <a:avLst>
              <a:gd name="adj" fmla="val 12000"/>
            </a:avLst>
          </a:prstGeom>
          <a:solidFill>
            <a:srgbClr val="163D5C"/>
          </a:solidFill>
          <a:ln w="10160">
            <a:solidFill>
              <a:srgbClr val="3B68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87584" y="1536192"/>
            <a:ext cx="1078992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2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 b="1" i="0">
                <a:solidFill>
                  <a:srgbClr val="FFFFFF"/>
                </a:solidFill>
                <a:latin typeface="微软雅黑" panose="020B0503020204020204" charset="-122"/>
              </a:rPr>
              <a:t>引用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8887968" y="3977639"/>
            <a:ext cx="1078992" cy="493776"/>
          </a:xfrm>
          <a:prstGeom prst="roundRect">
            <a:avLst>
              <a:gd name="adj" fmla="val 12000"/>
            </a:avLst>
          </a:prstGeom>
          <a:solidFill>
            <a:srgbClr val="163D5C"/>
          </a:solidFill>
          <a:ln w="10160">
            <a:solidFill>
              <a:srgbClr val="3B68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3977639"/>
            <a:ext cx="1078992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2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 b="1" i="0">
                <a:solidFill>
                  <a:srgbClr val="FFFFFF"/>
                </a:solidFill>
                <a:latin typeface="微软雅黑" panose="020B0503020204020204" charset="-122"/>
              </a:rPr>
              <a:t>生成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452360" y="4983480"/>
            <a:ext cx="37947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77C8C0"/>
                </a:solidFill>
                <a:latin typeface="Aptos"/>
              </a:defRPr>
            </a:pPr>
            <a:r>
              <a:rPr sz="850" b="0" i="0">
                <a:solidFill>
                  <a:srgbClr val="77C8C0"/>
                </a:solidFill>
                <a:latin typeface="Aptos"/>
              </a:rPr>
              <a:t>RETRIEVE  ·  GROUND  ·  GENERATE</a:t>
            </a:r>
            <a:endParaRPr sz="850" b="0" i="0">
              <a:solidFill>
                <a:srgbClr val="77C8C0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3654</Words>
  <Application>WPS 演示</Application>
  <PresentationFormat>On-screen Show (4:3)</PresentationFormat>
  <Paragraphs>563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4" baseType="lpstr">
      <vt:lpstr>Arial</vt:lpstr>
      <vt:lpstr>宋体</vt:lpstr>
      <vt:lpstr>Wingdings</vt:lpstr>
      <vt:lpstr>Arial</vt:lpstr>
      <vt:lpstr>微软雅黑</vt:lpstr>
      <vt:lpstr>Aptos</vt:lpstr>
      <vt:lpstr>Sarasa UI SC LiveMaker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RAG 的轻量级企业工艺生成——开题汇报</dc:title>
  <dc:creator>中国科学技术大学</dc:creator>
  <cp:keywords>RAG, 企业工艺, 开题汇报, UML</cp:keywords>
  <dc:description>generated using python-pptx</dc:description>
  <dc:subject>美化版开题汇报</dc:subject>
  <cp:lastModifiedBy>奇</cp:lastModifiedBy>
  <cp:revision>2</cp:revision>
  <dcterms:created xsi:type="dcterms:W3CDTF">2013-01-27T09:14:00Z</dcterms:created>
  <dcterms:modified xsi:type="dcterms:W3CDTF">2026-10-29T13:54:39Z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298B91FD4CA54EF3978273515B2C6466_12</vt:lpwstr>
  </property>
  <property fmtid="{D5CDD505-2E9C-101B-9397-08002B2CF9AE}" pid="3" name="KSOProductBuildVer">
    <vt:lpwstr>2052-12.1.0.19302</vt:lpwstr>
  </property>
</Properties>
</file>